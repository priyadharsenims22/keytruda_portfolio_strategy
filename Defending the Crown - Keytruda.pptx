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u\Downloads\Merck_2Q26_Keytruda_TotalPharma_Revenu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u\Downloads\Merck_2Q26_Keytruda_TotalPharma_Revenu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u\Downloads\Patent%20List%20(2)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u\Desktop\PROJECT%20Portfolio\Keytruda\Trial%20shortlisted%20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u\Desktop\PROJECT%20Portfolio\Keytruda\Trial%20shortlisted%2025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dhanu\Desktop\PROJECT%20Portfolio\Keytruda\Trial%20shortlisted%202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Keytruda represents ~57% of Merck Human Health sales with both Franchise growing ~5% YoY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7017532563899783"/>
          <c:y val="0.21671081047083982"/>
          <c:w val="0.50610240910683668"/>
          <c:h val="0.6075862685142406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'Total Pharma Revenue'!$A$13</c:f>
              <c:strCache>
                <c:ptCount val="1"/>
                <c:pt idx="0">
                  <c:v>2Q25</c:v>
                </c:pt>
              </c:strCache>
            </c:strRef>
          </c:tx>
          <c:spPr>
            <a:solidFill>
              <a:schemeClr val="accent2">
                <a:shade val="76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BD82F70F-540A-4FB6-9409-AD3B5083A103}" type="VALUE">
                      <a:rPr lang="en-US"/>
                      <a:pPr/>
                      <a:t>[VALUE]</a:t>
                    </a:fld>
                    <a:r>
                      <a:rPr lang="en-US"/>
                      <a:t> B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0BA-4187-8F73-12742193140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C4F5E198-CEE3-448D-9EC1-9608E353F48E}" type="VALUE">
                      <a:rPr lang="en-US"/>
                      <a:pPr/>
                      <a:t>[VALUE]</a:t>
                    </a:fld>
                    <a:r>
                      <a:rPr lang="en-US"/>
                      <a:t> B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0BA-4187-8F73-1274219314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'Total Pharma Revenue'!$B$12:$C$12</c:f>
              <c:strCache>
                <c:ptCount val="2"/>
                <c:pt idx="0">
                  <c:v>Merck PharmaTotal Human Health Sales (USD B )</c:v>
                </c:pt>
                <c:pt idx="1">
                  <c:v>KeytrudaFamily Sales (USD B)</c:v>
                </c:pt>
              </c:strCache>
            </c:strRef>
          </c:cat>
          <c:val>
            <c:numRef>
              <c:f>'Total Pharma Revenue'!$B$13:$C$13</c:f>
              <c:numCache>
                <c:formatCode>General</c:formatCode>
                <c:ptCount val="2"/>
                <c:pt idx="0">
                  <c:v>14.1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BA-4187-8F73-127421931405}"/>
            </c:ext>
          </c:extLst>
        </c:ser>
        <c:ser>
          <c:idx val="1"/>
          <c:order val="1"/>
          <c:tx>
            <c:strRef>
              <c:f>'Total Pharma Revenue'!$A$14</c:f>
              <c:strCache>
                <c:ptCount val="1"/>
                <c:pt idx="0">
                  <c:v>2Q26</c:v>
                </c:pt>
              </c:strCache>
            </c:strRef>
          </c:tx>
          <c:spPr>
            <a:solidFill>
              <a:schemeClr val="accent2">
                <a:tint val="77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/>
                      <a:t>$</a:t>
                    </a:r>
                    <a:fld id="{C589D78F-DBF9-4DB0-A37D-6AD02AE2C47D}" type="VALUE">
                      <a:rPr lang="en-US" b="1"/>
                      <a:pPr/>
                      <a:t>[VALUE]</a:t>
                    </a:fld>
                    <a:r>
                      <a:rPr lang="en-US" b="1"/>
                      <a:t> B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0BA-4187-8F73-12742193140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$8.4</a:t>
                    </a:r>
                    <a:r>
                      <a:rPr lang="en-US" baseline="0"/>
                      <a:t> B</a:t>
                    </a:r>
                    <a:endParaRPr 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0BA-4187-8F73-1274219314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'Total Pharma Revenue'!$B$12:$C$12</c:f>
              <c:strCache>
                <c:ptCount val="2"/>
                <c:pt idx="0">
                  <c:v>Merck PharmaTotal Human Health Sales (USD B )</c:v>
                </c:pt>
                <c:pt idx="1">
                  <c:v>KeytrudaFamily Sales (USD B)</c:v>
                </c:pt>
              </c:strCache>
            </c:strRef>
          </c:cat>
          <c:val>
            <c:numRef>
              <c:f>'Total Pharma Revenue'!$B$14:$C$14</c:f>
              <c:numCache>
                <c:formatCode>General</c:formatCode>
                <c:ptCount val="2"/>
                <c:pt idx="0">
                  <c:v>14.8</c:v>
                </c:pt>
                <c:pt idx="1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0BA-4187-8F73-12742193140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35135967"/>
        <c:axId val="135136383"/>
      </c:barChart>
      <c:catAx>
        <c:axId val="1351359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36383"/>
        <c:crosses val="autoZero"/>
        <c:auto val="1"/>
        <c:lblAlgn val="ctr"/>
        <c:lblOffset val="100"/>
        <c:noMultiLvlLbl val="0"/>
      </c:catAx>
      <c:valAx>
        <c:axId val="135136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35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Keytruda Revenue by Indication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Revenue ($ B)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 dirty="0">
                        <a:solidFill>
                          <a:schemeClr val="tx1"/>
                        </a:solidFill>
                        <a:latin typeface="+mn-lt"/>
                      </a:rPr>
                      <a:t>NSCLC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179-4074-8C0E-4C08861541D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Melanoma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179-4074-8C0E-4C08861541D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RCC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179-4074-8C0E-4C08861541D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HNSCC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179-4074-8C0E-4C08861541D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Other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179-4074-8C0E-4C08861541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Calibri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xVal>
            <c:strRef>
              <c:f>Sheet5!$A$2:$A$6</c:f>
              <c:strCache>
                <c:ptCount val="5"/>
                <c:pt idx="0">
                  <c:v>NSCLC (Non-Small Cell Lung Cancer)</c:v>
                </c:pt>
                <c:pt idx="1">
                  <c:v>Melanoma</c:v>
                </c:pt>
                <c:pt idx="2">
                  <c:v>Renal Cell Carcinoma (RCC)</c:v>
                </c:pt>
                <c:pt idx="3">
                  <c:v>Head &amp; Neck Cancer (HNSCC)</c:v>
                </c:pt>
                <c:pt idx="4">
                  <c:v>Other Oncology Indications</c:v>
                </c:pt>
              </c:strCache>
            </c:strRef>
          </c:xVal>
          <c:yVal>
            <c:numRef>
              <c:f>Sheet5!$B$2:$B$6</c:f>
              <c:numCache>
                <c:formatCode>General</c:formatCode>
                <c:ptCount val="5"/>
                <c:pt idx="0">
                  <c:v>14.5</c:v>
                </c:pt>
                <c:pt idx="1">
                  <c:v>4.9000000000000004</c:v>
                </c:pt>
                <c:pt idx="2">
                  <c:v>3.8</c:v>
                </c:pt>
                <c:pt idx="3">
                  <c:v>2.5</c:v>
                </c:pt>
                <c:pt idx="4">
                  <c:v>6.4</c:v>
                </c:pt>
              </c:numCache>
            </c:numRef>
          </c:yVal>
          <c:bubbleSize>
            <c:numRef>
              <c:f>Sheet5!$C$2:$C$6</c:f>
              <c:numCache>
                <c:formatCode>0.00%</c:formatCode>
                <c:ptCount val="5"/>
                <c:pt idx="0">
                  <c:v>0.45100000000000001</c:v>
                </c:pt>
                <c:pt idx="1">
                  <c:v>0.152</c:v>
                </c:pt>
                <c:pt idx="2">
                  <c:v>0.11899999999999999</c:v>
                </c:pt>
                <c:pt idx="3">
                  <c:v>7.8E-2</c:v>
                </c:pt>
                <c:pt idx="4">
                  <c:v>0.2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5-C179-4074-8C0E-4C08861541D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585012047"/>
        <c:axId val="585012463"/>
      </c:bubbleChart>
      <c:valAx>
        <c:axId val="5850120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REVENUE ($ B)</a:t>
                </a:r>
              </a:p>
            </c:rich>
          </c:tx>
          <c:layout>
            <c:manualLayout>
              <c:xMode val="edge"/>
              <c:yMode val="edge"/>
              <c:x val="0.47989457567804017"/>
              <c:y val="0.878680373286672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012463"/>
        <c:crosses val="autoZero"/>
        <c:crossBetween val="midCat"/>
      </c:valAx>
      <c:valAx>
        <c:axId val="5850124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INDICATION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0120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     Keytruda Revenue Trajectory</a:t>
            </a:r>
            <a:r>
              <a:rPr lang="en-US" baseline="0" dirty="0"/>
              <a:t> </a:t>
            </a:r>
            <a:r>
              <a:rPr lang="en-US" dirty="0"/>
              <a:t>under 2028</a:t>
            </a:r>
          </a:p>
          <a:p>
            <a:pPr algn="ctr">
              <a:defRPr/>
            </a:pPr>
            <a:r>
              <a:rPr lang="en-US" dirty="0"/>
              <a:t> US LOE scenarios </a:t>
            </a:r>
          </a:p>
        </c:rich>
      </c:tx>
      <c:layout>
        <c:manualLayout>
          <c:xMode val="edge"/>
          <c:yMode val="edge"/>
          <c:x val="0.11139482255720372"/>
          <c:y val="9.768208484942442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635051352889077"/>
          <c:y val="0.23986228505985965"/>
          <c:w val="0.85172413648631762"/>
          <c:h val="0.55323927219622349"/>
        </c:manualLayout>
      </c:layout>
      <c:lineChart>
        <c:grouping val="standard"/>
        <c:varyColors val="0"/>
        <c:ser>
          <c:idx val="1"/>
          <c:order val="0"/>
          <c:tx>
            <c:strRef>
              <c:f>Sheet5!$B$63</c:f>
              <c:strCache>
                <c:ptCount val="1"/>
                <c:pt idx="0">
                  <c:v>Pre LOE Baseline $B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cat>
            <c:numRef>
              <c:f>Sheet5!$A$64:$A$67</c:f>
              <c:numCache>
                <c:formatCode>General</c:formatCode>
                <c:ptCount val="4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</c:numCache>
            </c:numRef>
          </c:cat>
          <c:val>
            <c:numRef>
              <c:f>Sheet5!$B$64:$B$67</c:f>
              <c:numCache>
                <c:formatCode>General</c:formatCode>
                <c:ptCount val="4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D9-4BC9-ACA8-AB985D550C40}"/>
            </c:ext>
          </c:extLst>
        </c:ser>
        <c:ser>
          <c:idx val="2"/>
          <c:order val="1"/>
          <c:tx>
            <c:strRef>
              <c:f>Sheet5!$C$63</c:f>
              <c:strCache>
                <c:ptCount val="1"/>
                <c:pt idx="0">
                  <c:v>Low Revenue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cat>
            <c:numRef>
              <c:f>Sheet5!$A$64:$A$67</c:f>
              <c:numCache>
                <c:formatCode>General</c:formatCode>
                <c:ptCount val="4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</c:numCache>
            </c:numRef>
          </c:cat>
          <c:val>
            <c:numRef>
              <c:f>Sheet5!$C$64:$C$67</c:f>
              <c:numCache>
                <c:formatCode>General</c:formatCode>
                <c:ptCount val="4"/>
                <c:pt idx="0">
                  <c:v>35</c:v>
                </c:pt>
                <c:pt idx="1">
                  <c:v>30.86</c:v>
                </c:pt>
                <c:pt idx="2">
                  <c:v>25.68</c:v>
                </c:pt>
                <c:pt idx="3">
                  <c:v>22.57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D9-4BC9-ACA8-AB985D550C40}"/>
            </c:ext>
          </c:extLst>
        </c:ser>
        <c:ser>
          <c:idx val="3"/>
          <c:order val="2"/>
          <c:tx>
            <c:strRef>
              <c:f>Sheet5!$D$63</c:f>
              <c:strCache>
                <c:ptCount val="1"/>
                <c:pt idx="0">
                  <c:v>Base Revenue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cat>
            <c:numRef>
              <c:f>Sheet5!$A$64:$A$67</c:f>
              <c:numCache>
                <c:formatCode>General</c:formatCode>
                <c:ptCount val="4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</c:numCache>
            </c:numRef>
          </c:cat>
          <c:val>
            <c:numRef>
              <c:f>Sheet5!$D$64:$D$67</c:f>
              <c:numCache>
                <c:formatCode>General</c:formatCode>
                <c:ptCount val="4"/>
                <c:pt idx="0">
                  <c:v>35</c:v>
                </c:pt>
                <c:pt idx="1">
                  <c:v>30.13</c:v>
                </c:pt>
                <c:pt idx="2">
                  <c:v>24.12</c:v>
                </c:pt>
                <c:pt idx="3">
                  <c:v>21.01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ED9-4BC9-ACA8-AB985D550C40}"/>
            </c:ext>
          </c:extLst>
        </c:ser>
        <c:ser>
          <c:idx val="4"/>
          <c:order val="3"/>
          <c:tx>
            <c:strRef>
              <c:f>Sheet5!$E$63</c:f>
              <c:strCache>
                <c:ptCount val="1"/>
                <c:pt idx="0">
                  <c:v>High Revenue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ED9-4BC9-ACA8-AB985D550C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Sheet5!$A$64:$A$67</c:f>
              <c:numCache>
                <c:formatCode>General</c:formatCode>
                <c:ptCount val="4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</c:numCache>
            </c:numRef>
          </c:cat>
          <c:val>
            <c:numRef>
              <c:f>Sheet5!$E$64:$E$67</c:f>
              <c:numCache>
                <c:formatCode>General</c:formatCode>
                <c:ptCount val="4"/>
                <c:pt idx="0">
                  <c:v>35</c:v>
                </c:pt>
                <c:pt idx="1">
                  <c:v>27.96</c:v>
                </c:pt>
                <c:pt idx="2">
                  <c:v>22.15</c:v>
                </c:pt>
                <c:pt idx="3">
                  <c:v>19.87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ED9-4BC9-ACA8-AB985D550C4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8419135"/>
        <c:axId val="578419967"/>
      </c:lineChart>
      <c:catAx>
        <c:axId val="5784191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19967"/>
        <c:crosses val="autoZero"/>
        <c:auto val="1"/>
        <c:lblAlgn val="ctr"/>
        <c:lblOffset val="100"/>
        <c:noMultiLvlLbl val="0"/>
      </c:catAx>
      <c:valAx>
        <c:axId val="578419967"/>
        <c:scaling>
          <c:orientation val="minMax"/>
          <c:max val="40"/>
          <c:min val="18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Keytruda Revenue ($B)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19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PEMBROLIZUMAB Pipeline:  Timing Vs Strategic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v>Pipeline Programs</c:v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xVal>
            <c:numRef>
              <c:f>Sheet2!$B$2:$B$26</c:f>
              <c:numCache>
                <c:formatCode>General</c:formatCode>
                <c:ptCount val="25"/>
                <c:pt idx="0">
                  <c:v>2026</c:v>
                </c:pt>
                <c:pt idx="1">
                  <c:v>2027</c:v>
                </c:pt>
                <c:pt idx="2">
                  <c:v>2027</c:v>
                </c:pt>
                <c:pt idx="3">
                  <c:v>2026</c:v>
                </c:pt>
                <c:pt idx="4">
                  <c:v>2026</c:v>
                </c:pt>
                <c:pt idx="5">
                  <c:v>2027</c:v>
                </c:pt>
                <c:pt idx="6">
                  <c:v>2027</c:v>
                </c:pt>
                <c:pt idx="7">
                  <c:v>2028</c:v>
                </c:pt>
                <c:pt idx="8">
                  <c:v>2028</c:v>
                </c:pt>
                <c:pt idx="9">
                  <c:v>2028</c:v>
                </c:pt>
                <c:pt idx="10">
                  <c:v>2026</c:v>
                </c:pt>
                <c:pt idx="11">
                  <c:v>2028</c:v>
                </c:pt>
                <c:pt idx="12">
                  <c:v>2026</c:v>
                </c:pt>
                <c:pt idx="13">
                  <c:v>2028</c:v>
                </c:pt>
                <c:pt idx="14">
                  <c:v>2027</c:v>
                </c:pt>
                <c:pt idx="15">
                  <c:v>2028</c:v>
                </c:pt>
                <c:pt idx="16">
                  <c:v>2028</c:v>
                </c:pt>
                <c:pt idx="17">
                  <c:v>2028</c:v>
                </c:pt>
                <c:pt idx="18">
                  <c:v>2028</c:v>
                </c:pt>
                <c:pt idx="19">
                  <c:v>2028</c:v>
                </c:pt>
                <c:pt idx="20">
                  <c:v>2027</c:v>
                </c:pt>
                <c:pt idx="21">
                  <c:v>2027</c:v>
                </c:pt>
                <c:pt idx="22">
                  <c:v>2028</c:v>
                </c:pt>
                <c:pt idx="23">
                  <c:v>2028</c:v>
                </c:pt>
                <c:pt idx="24">
                  <c:v>2028</c:v>
                </c:pt>
              </c:numCache>
            </c:numRef>
          </c:xVal>
          <c:yVal>
            <c:numRef>
              <c:f>Sheet2!$C$2:$C$26</c:f>
              <c:numCache>
                <c:formatCode>General</c:formatCode>
                <c:ptCount val="2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  <c:pt idx="8">
                  <c:v>3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4</c:v>
                </c:pt>
                <c:pt idx="13">
                  <c:v>3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yVal>
          <c:bubbleSize>
            <c:numRef>
              <c:f>Sheet2!$D$2:$D$26</c:f>
              <c:numCache>
                <c:formatCode>General</c:formatCode>
                <c:ptCount val="2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  <c:pt idx="5">
                  <c:v>5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1</c:v>
                </c:pt>
                <c:pt idx="16">
                  <c:v>2</c:v>
                </c:pt>
                <c:pt idx="17">
                  <c:v>3</c:v>
                </c:pt>
                <c:pt idx="18">
                  <c:v>3</c:v>
                </c:pt>
                <c:pt idx="19">
                  <c:v>1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FAD9-48EC-9F7D-A73E551337D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77361519"/>
        <c:axId val="594047423"/>
      </c:bubbleChart>
      <c:valAx>
        <c:axId val="177361519"/>
        <c:scaling>
          <c:orientation val="minMax"/>
          <c:max val="2031"/>
          <c:min val="202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Completion year 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047423"/>
        <c:crosses val="autoZero"/>
        <c:crossBetween val="midCat"/>
      </c:valAx>
      <c:valAx>
        <c:axId val="594047423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Strategic 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61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Selected Programs</c:v>
          </c:tx>
          <c:spPr>
            <a:ln w="25400">
              <a:noFill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127000" cap="flat" cmpd="sng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Sheet5!$B$2:$B$10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</c:numCache>
            </c:numRef>
          </c:xVal>
          <c:yVal>
            <c:numRef>
              <c:f>Sheet5!$C$2:$C$10</c:f>
              <c:numCache>
                <c:formatCode>General</c:formatCode>
                <c:ptCount val="9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  <c:pt idx="5">
                  <c:v>1</c:v>
                </c:pt>
                <c:pt idx="6">
                  <c:v>3</c:v>
                </c:pt>
                <c:pt idx="7">
                  <c:v>5</c:v>
                </c:pt>
                <c:pt idx="8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5C8-48ED-B0F2-BE3A67A64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7725023"/>
        <c:axId val="557739583"/>
      </c:scatterChart>
      <c:valAx>
        <c:axId val="557725023"/>
        <c:scaling>
          <c:orientation val="minMax"/>
          <c:max val="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Development 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739583"/>
        <c:crosses val="autoZero"/>
        <c:crossBetween val="midCat"/>
        <c:majorUnit val="1"/>
      </c:valAx>
      <c:valAx>
        <c:axId val="557739583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Commercial 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7250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100000">
          <a:schemeClr val="lt1">
            <a:lumMod val="95000"/>
          </a:schemeClr>
        </a:gs>
        <a:gs pos="43000">
          <a:schemeClr val="lt1"/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Sheet3!$A$2:$A$6</cx:f>
        <cx:lvl ptCount="5">
          <cx:pt idx="0">2028 Baseline</cx:pt>
          <cx:pt idx="1">2029</cx:pt>
          <cx:pt idx="2">2030</cx:pt>
          <cx:pt idx="3">2031</cx:pt>
          <cx:pt idx="4">2031 Revenue</cx:pt>
        </cx:lvl>
      </cx:strDim>
      <cx:numDim type="val">
        <cx:f>Sheet3!$B$2:$B$6</cx:f>
        <cx:lvl ptCount="5" formatCode="General">
          <cx:pt idx="0">35</cx:pt>
          <cx:pt idx="1">-4.8700000000000001</cx:pt>
          <cx:pt idx="2">-6.0099999999999998</cx:pt>
          <cx:pt idx="3">-3.1099999999999999</cx:pt>
          <cx:pt idx="4">21.010000000000002</cx:pt>
        </cx:lvl>
      </cx:numDim>
    </cx:data>
  </cx:chartData>
  <cx:chart>
    <cx:plotArea>
      <cx:plotAreaRegion>
        <cx:series layoutId="waterfall" uniqueId="{E6AFCF41-3EBF-4B17-8DC6-22581A649A64}">
          <cx:tx>
            <cx:txData>
              <cx:f>Sheet3!$B$1</cx:f>
              <cx:v>Revenue ($B)</cx:v>
            </cx:txData>
          </cx:tx>
          <cx:dataId val="0"/>
          <cx:layoutPr>
            <cx:subtotals>
              <cx:idx val="0"/>
              <cx:idx val="4"/>
            </cx:subtotals>
          </cx:layoutPr>
        </cx:series>
      </cx:plotAreaRegion>
      <cx:axis id="0">
        <cx:catScaling gapWidth="0.5"/>
        <cx:tickLabels/>
      </cx:axis>
      <cx:axis id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72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>
      <a:latin typeface="Calibri"/>
    </cs:defRPr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72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>
      <a:latin typeface="Calibri"/>
    </cs:defRPr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4">
  <cs:axisTitle>
    <cs:lnRef idx="0"/>
    <cs:fillRef idx="0"/>
    <cs:effectRef idx="0"/>
    <cs:fontRef idx="minor">
      <a:schemeClr val="dk1">
        <a:lumMod val="50000"/>
        <a:lumOff val="50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>
        <a:solidFill>
          <a:schemeClr val="phClr">
            <a:alpha val="20000"/>
          </a:schemeClr>
        </a:solidFill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2128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B3DA58-D4CB-4441-B00D-A71AF188E96F}" type="doc">
      <dgm:prSet loTypeId="urn:microsoft.com/office/officeart/2011/layout/Tab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00DD5BD-F4FB-4699-80D2-1E1BD72F4C90}">
      <dgm:prSet phldrT="[Text]" custT="1"/>
      <dgm:spPr/>
      <dgm:t>
        <a:bodyPr/>
        <a:lstStyle/>
        <a:p>
          <a:pPr marL="0" algn="ctr" defTabSz="914400" rtl="0" eaLnBrk="1" latinLnBrk="0" hangingPunct="1"/>
          <a:r>
            <a:rPr lang="en-IN" sz="2000" kern="1200">
              <a:latin typeface="+mn-lt"/>
              <a:ea typeface="+mn-ea"/>
              <a:cs typeface="+mn-cs"/>
            </a:rPr>
            <a:t>PROTECT THE CORE</a:t>
          </a:r>
          <a:endParaRPr lang="en-IN" sz="2000" kern="1200" dirty="0">
            <a:latin typeface="+mn-lt"/>
            <a:ea typeface="+mn-ea"/>
            <a:cs typeface="+mn-cs"/>
          </a:endParaRPr>
        </a:p>
      </dgm:t>
    </dgm:pt>
    <dgm:pt modelId="{2D73F855-D144-4B2E-AB1A-513726F66D33}" type="parTrans" cxnId="{F17D2F7B-726D-47A5-AA5F-6F8F96180600}">
      <dgm:prSet/>
      <dgm:spPr/>
      <dgm:t>
        <a:bodyPr/>
        <a:lstStyle/>
        <a:p>
          <a:endParaRPr lang="en-IN"/>
        </a:p>
      </dgm:t>
    </dgm:pt>
    <dgm:pt modelId="{D5C2A124-4506-498C-B4C1-7FE7F073107B}" type="sibTrans" cxnId="{F17D2F7B-726D-47A5-AA5F-6F8F96180600}">
      <dgm:prSet/>
      <dgm:spPr/>
      <dgm:t>
        <a:bodyPr/>
        <a:lstStyle/>
        <a:p>
          <a:endParaRPr lang="en-IN"/>
        </a:p>
      </dgm:t>
    </dgm:pt>
    <dgm:pt modelId="{57DECE3D-78BD-458D-9C61-63D4C8F93244}">
      <dgm:prSet phldrT="[Text]" phldr="1"/>
      <dgm:spPr/>
      <dgm:t>
        <a:bodyPr/>
        <a:lstStyle/>
        <a:p>
          <a:endParaRPr lang="en-IN"/>
        </a:p>
      </dgm:t>
    </dgm:pt>
    <dgm:pt modelId="{05363EB2-9DE7-457A-A6FC-E8D6AC53465F}" type="parTrans" cxnId="{58FC8A30-EFE6-4AF0-974A-088A3DB941AD}">
      <dgm:prSet/>
      <dgm:spPr/>
      <dgm:t>
        <a:bodyPr/>
        <a:lstStyle/>
        <a:p>
          <a:endParaRPr lang="en-IN"/>
        </a:p>
      </dgm:t>
    </dgm:pt>
    <dgm:pt modelId="{AA669B5A-6AB9-4C9E-8443-E42A687E87E3}" type="sibTrans" cxnId="{58FC8A30-EFE6-4AF0-974A-088A3DB941AD}">
      <dgm:prSet/>
      <dgm:spPr/>
      <dgm:t>
        <a:bodyPr/>
        <a:lstStyle/>
        <a:p>
          <a:endParaRPr lang="en-IN"/>
        </a:p>
      </dgm:t>
    </dgm:pt>
    <dgm:pt modelId="{8AB7F597-0AF1-49E1-8CDA-69B639BB825A}">
      <dgm:prSet phldrT="[Text]" custT="1"/>
      <dgm:spPr/>
      <dgm:t>
        <a:bodyPr/>
        <a:lstStyle/>
        <a:p>
          <a:pPr>
            <a:buNone/>
          </a:pPr>
          <a:r>
            <a:rPr lang="en-IN" sz="1800" dirty="0"/>
            <a:t>Continue lifecycle expansion through differentiated delivery, new indications, earlier use and combinations</a:t>
          </a:r>
        </a:p>
      </dgm:t>
    </dgm:pt>
    <dgm:pt modelId="{100C263D-666E-4642-A4D1-D6C2A1F4BDC8}" type="parTrans" cxnId="{B4788EBE-9336-4F7F-9F83-4F0879DD2651}">
      <dgm:prSet/>
      <dgm:spPr/>
      <dgm:t>
        <a:bodyPr/>
        <a:lstStyle/>
        <a:p>
          <a:endParaRPr lang="en-IN"/>
        </a:p>
      </dgm:t>
    </dgm:pt>
    <dgm:pt modelId="{1A1935EE-4B3C-4D28-8A53-68D51D0813BE}" type="sibTrans" cxnId="{B4788EBE-9336-4F7F-9F83-4F0879DD2651}">
      <dgm:prSet/>
      <dgm:spPr/>
      <dgm:t>
        <a:bodyPr/>
        <a:lstStyle/>
        <a:p>
          <a:endParaRPr lang="en-IN"/>
        </a:p>
      </dgm:t>
    </dgm:pt>
    <dgm:pt modelId="{1D4B0A70-F2FA-4BBB-8DDF-45137CE81D2C}">
      <dgm:prSet phldrT="[Text]" custT="1"/>
      <dgm:spPr/>
      <dgm:t>
        <a:bodyPr/>
        <a:lstStyle/>
        <a:p>
          <a:pPr algn="ctr"/>
          <a:r>
            <a:rPr lang="en-IN" sz="2000" kern="1200" dirty="0">
              <a:latin typeface="Calibri" panose="020F0502020204030204"/>
              <a:ea typeface="+mn-ea"/>
              <a:cs typeface="+mn-cs"/>
            </a:rPr>
            <a:t>CONCENTRATE INVESTMENT</a:t>
          </a:r>
        </a:p>
      </dgm:t>
    </dgm:pt>
    <dgm:pt modelId="{807A729D-0C72-4D57-96E1-48897BE7C88A}" type="parTrans" cxnId="{7507E9EB-A11B-4A3B-9FC3-9540C250A92D}">
      <dgm:prSet/>
      <dgm:spPr/>
      <dgm:t>
        <a:bodyPr/>
        <a:lstStyle/>
        <a:p>
          <a:endParaRPr lang="en-IN"/>
        </a:p>
      </dgm:t>
    </dgm:pt>
    <dgm:pt modelId="{82596CBD-8581-45B8-958C-8E79DF238E0E}" type="sibTrans" cxnId="{7507E9EB-A11B-4A3B-9FC3-9540C250A92D}">
      <dgm:prSet/>
      <dgm:spPr/>
      <dgm:t>
        <a:bodyPr/>
        <a:lstStyle/>
        <a:p>
          <a:endParaRPr lang="en-IN"/>
        </a:p>
      </dgm:t>
    </dgm:pt>
    <dgm:pt modelId="{C4D85507-0AC5-4A9A-825B-4CCAEEB44090}">
      <dgm:prSet phldrT="[Text]" phldr="1"/>
      <dgm:spPr/>
      <dgm:t>
        <a:bodyPr/>
        <a:lstStyle/>
        <a:p>
          <a:endParaRPr lang="en-IN"/>
        </a:p>
      </dgm:t>
    </dgm:pt>
    <dgm:pt modelId="{3B535AFD-38ED-40A1-AA94-A694A25B3A8F}" type="parTrans" cxnId="{4B8D852A-CBE2-4932-B0BF-B7CA06052B74}">
      <dgm:prSet/>
      <dgm:spPr/>
      <dgm:t>
        <a:bodyPr/>
        <a:lstStyle/>
        <a:p>
          <a:endParaRPr lang="en-IN"/>
        </a:p>
      </dgm:t>
    </dgm:pt>
    <dgm:pt modelId="{0EEB4A09-3711-4B73-96C3-A2BC6EBA160E}" type="sibTrans" cxnId="{4B8D852A-CBE2-4932-B0BF-B7CA06052B74}">
      <dgm:prSet/>
      <dgm:spPr/>
      <dgm:t>
        <a:bodyPr/>
        <a:lstStyle/>
        <a:p>
          <a:endParaRPr lang="en-IN"/>
        </a:p>
      </dgm:t>
    </dgm:pt>
    <dgm:pt modelId="{F31961D4-3C6E-4FA0-BFC9-ED623B6B0E9D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Prioritize mature programs with meaningful commercial opportunity and relevance to the 2028 – 2031 transition</a:t>
          </a:r>
          <a:r>
            <a:rPr lang="en-IN" sz="1300" dirty="0"/>
            <a:t>.</a:t>
          </a:r>
        </a:p>
      </dgm:t>
    </dgm:pt>
    <dgm:pt modelId="{E1E94051-22AA-4D11-AFE3-99297562C4B3}" type="parTrans" cxnId="{DD9EF92B-FAEE-4A10-BF5D-2493AC39205A}">
      <dgm:prSet/>
      <dgm:spPr/>
      <dgm:t>
        <a:bodyPr/>
        <a:lstStyle/>
        <a:p>
          <a:endParaRPr lang="en-IN"/>
        </a:p>
      </dgm:t>
    </dgm:pt>
    <dgm:pt modelId="{F0C086AD-74CF-46DD-ADFC-8ED13940E7FD}" type="sibTrans" cxnId="{DD9EF92B-FAEE-4A10-BF5D-2493AC39205A}">
      <dgm:prSet/>
      <dgm:spPr/>
      <dgm:t>
        <a:bodyPr/>
        <a:lstStyle/>
        <a:p>
          <a:endParaRPr lang="en-IN"/>
        </a:p>
      </dgm:t>
    </dgm:pt>
    <dgm:pt modelId="{E0245A8A-5194-477C-945E-06EC8129C3B9}">
      <dgm:prSet phldrT="[Text]" custT="1"/>
      <dgm:spPr/>
      <dgm:t>
        <a:bodyPr/>
        <a:lstStyle/>
        <a:p>
          <a:r>
            <a:rPr lang="en-IN" sz="2000" kern="1200">
              <a:latin typeface="Calibri" panose="020F0502020204030204"/>
              <a:ea typeface="+mn-ea"/>
              <a:cs typeface="+mn-cs"/>
            </a:rPr>
            <a:t>DIVERSIFY THE FUTURE</a:t>
          </a:r>
          <a:endParaRPr lang="en-IN" sz="2000" kern="1200" dirty="0">
            <a:latin typeface="Calibri" panose="020F0502020204030204"/>
            <a:ea typeface="+mn-ea"/>
            <a:cs typeface="+mn-cs"/>
          </a:endParaRPr>
        </a:p>
      </dgm:t>
    </dgm:pt>
    <dgm:pt modelId="{90847DAE-73E6-4FF1-87BA-AB0E51DBDD83}" type="parTrans" cxnId="{E267FD47-3AD4-48B1-BBFE-62262A3F665E}">
      <dgm:prSet/>
      <dgm:spPr/>
      <dgm:t>
        <a:bodyPr/>
        <a:lstStyle/>
        <a:p>
          <a:endParaRPr lang="en-IN"/>
        </a:p>
      </dgm:t>
    </dgm:pt>
    <dgm:pt modelId="{CF217659-2F82-4BF6-AF52-845EE5969EDF}" type="sibTrans" cxnId="{E267FD47-3AD4-48B1-BBFE-62262A3F665E}">
      <dgm:prSet/>
      <dgm:spPr/>
      <dgm:t>
        <a:bodyPr/>
        <a:lstStyle/>
        <a:p>
          <a:endParaRPr lang="en-IN"/>
        </a:p>
      </dgm:t>
    </dgm:pt>
    <dgm:pt modelId="{CEB4F0EE-C318-44E1-97C0-BD13B54A4F29}">
      <dgm:prSet phldrT="[Text]" phldr="1"/>
      <dgm:spPr/>
      <dgm:t>
        <a:bodyPr/>
        <a:lstStyle/>
        <a:p>
          <a:endParaRPr lang="en-IN"/>
        </a:p>
      </dgm:t>
    </dgm:pt>
    <dgm:pt modelId="{394BC455-A459-4296-8ECF-A6477B1FD116}" type="parTrans" cxnId="{D9BAF81F-5B89-4E2D-98F0-E15E915C18D6}">
      <dgm:prSet/>
      <dgm:spPr/>
      <dgm:t>
        <a:bodyPr/>
        <a:lstStyle/>
        <a:p>
          <a:endParaRPr lang="en-IN"/>
        </a:p>
      </dgm:t>
    </dgm:pt>
    <dgm:pt modelId="{8A7FE3DC-5DE4-4EA0-BED4-B2B177161DF3}" type="sibTrans" cxnId="{D9BAF81F-5B89-4E2D-98F0-E15E915C18D6}">
      <dgm:prSet/>
      <dgm:spPr/>
      <dgm:t>
        <a:bodyPr/>
        <a:lstStyle/>
        <a:p>
          <a:endParaRPr lang="en-IN"/>
        </a:p>
      </dgm:t>
    </dgm:pt>
    <dgm:pt modelId="{71E5A67D-334A-474C-B9B9-B71D11C534C6}">
      <dgm:prSet phldrT="[Text]" custT="1"/>
      <dgm:spPr/>
      <dgm:t>
        <a:bodyPr/>
        <a:lstStyle/>
        <a:p>
          <a:pPr>
            <a:buNone/>
          </a:pPr>
          <a:r>
            <a:rPr lang="en-IN" sz="1600" kern="1200">
              <a:latin typeface="Calibri" panose="020F0502020204030204"/>
              <a:ea typeface="+mn-ea"/>
              <a:cs typeface="+mn-cs"/>
            </a:rPr>
            <a:t>Build multiple oncology growth engines across mechanisms and modalities rather than seeking one successor.</a:t>
          </a:r>
          <a:endParaRPr lang="en-IN" sz="1600" kern="1200" dirty="0">
            <a:latin typeface="Calibri" panose="020F0502020204030204"/>
            <a:ea typeface="+mn-ea"/>
            <a:cs typeface="+mn-cs"/>
          </a:endParaRPr>
        </a:p>
      </dgm:t>
    </dgm:pt>
    <dgm:pt modelId="{D8A04FE4-96C9-49D0-A4B1-DFDB01E2710E}" type="parTrans" cxnId="{00B7DB2E-710F-4439-8BEE-D3C874D16493}">
      <dgm:prSet/>
      <dgm:spPr/>
      <dgm:t>
        <a:bodyPr/>
        <a:lstStyle/>
        <a:p>
          <a:endParaRPr lang="en-IN"/>
        </a:p>
      </dgm:t>
    </dgm:pt>
    <dgm:pt modelId="{D47C7C47-E7DF-41BE-802C-624F3733F9A3}" type="sibTrans" cxnId="{00B7DB2E-710F-4439-8BEE-D3C874D16493}">
      <dgm:prSet/>
      <dgm:spPr/>
      <dgm:t>
        <a:bodyPr/>
        <a:lstStyle/>
        <a:p>
          <a:endParaRPr lang="en-IN"/>
        </a:p>
      </dgm:t>
    </dgm:pt>
    <dgm:pt modelId="{E5F1AF20-6AE0-4A22-8FC4-A9AC481B533F}">
      <dgm:prSet phldrT="[Text]" custT="1"/>
      <dgm:spPr/>
      <dgm:t>
        <a:bodyPr/>
        <a:lstStyle/>
        <a:p>
          <a:pPr>
            <a:buNone/>
          </a:pP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24BCF886-F081-4933-8F21-DBEFABCB6EAC}" type="parTrans" cxnId="{F7ADB9B8-8B35-4C95-B4B7-A8CFF20592AA}">
      <dgm:prSet/>
      <dgm:spPr/>
      <dgm:t>
        <a:bodyPr/>
        <a:lstStyle/>
        <a:p>
          <a:endParaRPr lang="en-IN"/>
        </a:p>
      </dgm:t>
    </dgm:pt>
    <dgm:pt modelId="{27CA75A1-4FF2-43DD-92CA-C5793C659F38}" type="sibTrans" cxnId="{F7ADB9B8-8B35-4C95-B4B7-A8CFF20592AA}">
      <dgm:prSet/>
      <dgm:spPr/>
      <dgm:t>
        <a:bodyPr/>
        <a:lstStyle/>
        <a:p>
          <a:endParaRPr lang="en-IN"/>
        </a:p>
      </dgm:t>
    </dgm:pt>
    <dgm:pt modelId="{32B5788D-1171-4897-9597-B95C0C6DB3B8}">
      <dgm:prSet phldrT="[Text]" custT="1"/>
      <dgm:spPr/>
      <dgm:t>
        <a:bodyPr/>
        <a:lstStyle/>
        <a:p>
          <a:pPr>
            <a:buNone/>
          </a:pP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392F959F-D2C2-42F8-9ED5-7430E4DC8CB5}" type="parTrans" cxnId="{37F05F08-C962-4F18-87E3-D46523F4DD4F}">
      <dgm:prSet/>
      <dgm:spPr/>
      <dgm:t>
        <a:bodyPr/>
        <a:lstStyle/>
        <a:p>
          <a:endParaRPr lang="en-IN"/>
        </a:p>
      </dgm:t>
    </dgm:pt>
    <dgm:pt modelId="{CF296C66-9BEA-4954-8145-17687F614C3C}" type="sibTrans" cxnId="{37F05F08-C962-4F18-87E3-D46523F4DD4F}">
      <dgm:prSet/>
      <dgm:spPr/>
      <dgm:t>
        <a:bodyPr/>
        <a:lstStyle/>
        <a:p>
          <a:endParaRPr lang="en-IN"/>
        </a:p>
      </dgm:t>
    </dgm:pt>
    <dgm:pt modelId="{24C2DDFF-4E82-45E1-9C63-EA4E993A02C1}" type="pres">
      <dgm:prSet presAssocID="{0DB3DA58-D4CB-4441-B00D-A71AF188E96F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20EC8FB-4DE4-4E7C-9836-68CB5E632425}" type="pres">
      <dgm:prSet presAssocID="{100DD5BD-F4FB-4699-80D2-1E1BD72F4C90}" presName="composite" presStyleCnt="0"/>
      <dgm:spPr/>
    </dgm:pt>
    <dgm:pt modelId="{67FC3273-7D25-46A9-8CAA-760CF0B58F42}" type="pres">
      <dgm:prSet presAssocID="{100DD5BD-F4FB-4699-80D2-1E1BD72F4C90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0544587-E4FA-40F8-9F5C-AEB3D6122537}" type="pres">
      <dgm:prSet presAssocID="{100DD5BD-F4FB-4699-80D2-1E1BD72F4C90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5543733F-2B2E-4478-BFF6-EB1480360A4A}" type="pres">
      <dgm:prSet presAssocID="{100DD5BD-F4FB-4699-80D2-1E1BD72F4C90}" presName="Accent" presStyleLbl="parChTrans1D1" presStyleIdx="0" presStyleCnt="3"/>
      <dgm:spPr/>
    </dgm:pt>
    <dgm:pt modelId="{D23008A8-BEB7-479F-8142-8649BC5C3616}" type="pres">
      <dgm:prSet presAssocID="{100DD5BD-F4FB-4699-80D2-1E1BD72F4C90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98BBDD91-D7D1-4E85-BF6C-58E982BDF179}" type="pres">
      <dgm:prSet presAssocID="{D5C2A124-4506-498C-B4C1-7FE7F073107B}" presName="sibTrans" presStyleCnt="0"/>
      <dgm:spPr/>
    </dgm:pt>
    <dgm:pt modelId="{1CBAD9B4-2A23-426D-8483-324BDE08786B}" type="pres">
      <dgm:prSet presAssocID="{1D4B0A70-F2FA-4BBB-8DDF-45137CE81D2C}" presName="composite" presStyleCnt="0"/>
      <dgm:spPr/>
    </dgm:pt>
    <dgm:pt modelId="{028238C3-2143-4A65-A80F-9FD65BAD875B}" type="pres">
      <dgm:prSet presAssocID="{1D4B0A70-F2FA-4BBB-8DDF-45137CE81D2C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15CF22AC-127F-4801-85AE-09916E29016E}" type="pres">
      <dgm:prSet presAssocID="{1D4B0A70-F2FA-4BBB-8DDF-45137CE81D2C}" presName="Parent" presStyleLbl="alignNode1" presStyleIdx="1" presStyleCnt="3" custLinFactNeighborY="-7608">
        <dgm:presLayoutVars>
          <dgm:chMax val="3"/>
          <dgm:chPref val="3"/>
          <dgm:bulletEnabled val="1"/>
        </dgm:presLayoutVars>
      </dgm:prSet>
      <dgm:spPr/>
    </dgm:pt>
    <dgm:pt modelId="{7295982A-9D8C-43D8-B790-EA2A09E4E356}" type="pres">
      <dgm:prSet presAssocID="{1D4B0A70-F2FA-4BBB-8DDF-45137CE81D2C}" presName="Accent" presStyleLbl="parChTrans1D1" presStyleIdx="1" presStyleCnt="3"/>
      <dgm:spPr/>
    </dgm:pt>
    <dgm:pt modelId="{36A953C6-7A59-4EBB-A799-C8EFC55EE0A7}" type="pres">
      <dgm:prSet presAssocID="{1D4B0A70-F2FA-4BBB-8DDF-45137CE81D2C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01D9934F-C72E-4765-AF65-9DAC72EABCBE}" type="pres">
      <dgm:prSet presAssocID="{82596CBD-8581-45B8-958C-8E79DF238E0E}" presName="sibTrans" presStyleCnt="0"/>
      <dgm:spPr/>
    </dgm:pt>
    <dgm:pt modelId="{C070D6B5-5104-45D6-AF17-A99ABB4BA4D2}" type="pres">
      <dgm:prSet presAssocID="{E0245A8A-5194-477C-945E-06EC8129C3B9}" presName="composite" presStyleCnt="0"/>
      <dgm:spPr/>
    </dgm:pt>
    <dgm:pt modelId="{1BFA3A85-58DE-4A8C-ABAE-D9DA30D6B628}" type="pres">
      <dgm:prSet presAssocID="{E0245A8A-5194-477C-945E-06EC8129C3B9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08C4203C-C305-4DB1-AAEE-AD9C8A63F8D5}" type="pres">
      <dgm:prSet presAssocID="{E0245A8A-5194-477C-945E-06EC8129C3B9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C1FCAEDB-14CF-4D9C-9AC0-D72AF6948E51}" type="pres">
      <dgm:prSet presAssocID="{E0245A8A-5194-477C-945E-06EC8129C3B9}" presName="Accent" presStyleLbl="parChTrans1D1" presStyleIdx="2" presStyleCnt="3"/>
      <dgm:spPr/>
    </dgm:pt>
    <dgm:pt modelId="{125FA75F-FB62-44F7-AF85-C130587E1E22}" type="pres">
      <dgm:prSet presAssocID="{E0245A8A-5194-477C-945E-06EC8129C3B9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7F05F08-C962-4F18-87E3-D46523F4DD4F}" srcId="{E0245A8A-5194-477C-945E-06EC8129C3B9}" destId="{32B5788D-1171-4897-9597-B95C0C6DB3B8}" srcOrd="2" destOrd="0" parTransId="{392F959F-D2C2-42F8-9ED5-7430E4DC8CB5}" sibTransId="{CF296C66-9BEA-4954-8145-17687F614C3C}"/>
    <dgm:cxn modelId="{5651CE12-193A-4270-9747-D6432E876C6C}" type="presOf" srcId="{1D4B0A70-F2FA-4BBB-8DDF-45137CE81D2C}" destId="{15CF22AC-127F-4801-85AE-09916E29016E}" srcOrd="0" destOrd="0" presId="urn:microsoft.com/office/officeart/2011/layout/TabList"/>
    <dgm:cxn modelId="{D457271C-E7AD-41ED-811D-E85553A4FA80}" type="presOf" srcId="{E0245A8A-5194-477C-945E-06EC8129C3B9}" destId="{08C4203C-C305-4DB1-AAEE-AD9C8A63F8D5}" srcOrd="0" destOrd="0" presId="urn:microsoft.com/office/officeart/2011/layout/TabList"/>
    <dgm:cxn modelId="{D9BAF81F-5B89-4E2D-98F0-E15E915C18D6}" srcId="{E0245A8A-5194-477C-945E-06EC8129C3B9}" destId="{CEB4F0EE-C318-44E1-97C0-BD13B54A4F29}" srcOrd="0" destOrd="0" parTransId="{394BC455-A459-4296-8ECF-A6477B1FD116}" sibTransId="{8A7FE3DC-5DE4-4EA0-BED4-B2B177161DF3}"/>
    <dgm:cxn modelId="{319F4122-B7E9-4047-8F33-56DBCC470C26}" type="presOf" srcId="{CEB4F0EE-C318-44E1-97C0-BD13B54A4F29}" destId="{1BFA3A85-58DE-4A8C-ABAE-D9DA30D6B628}" srcOrd="0" destOrd="0" presId="urn:microsoft.com/office/officeart/2011/layout/TabList"/>
    <dgm:cxn modelId="{4B8D852A-CBE2-4932-B0BF-B7CA06052B74}" srcId="{1D4B0A70-F2FA-4BBB-8DDF-45137CE81D2C}" destId="{C4D85507-0AC5-4A9A-825B-4CCAEEB44090}" srcOrd="0" destOrd="0" parTransId="{3B535AFD-38ED-40A1-AA94-A694A25B3A8F}" sibTransId="{0EEB4A09-3711-4B73-96C3-A2BC6EBA160E}"/>
    <dgm:cxn modelId="{DD9EF92B-FAEE-4A10-BF5D-2493AC39205A}" srcId="{1D4B0A70-F2FA-4BBB-8DDF-45137CE81D2C}" destId="{F31961D4-3C6E-4FA0-BFC9-ED623B6B0E9D}" srcOrd="1" destOrd="0" parTransId="{E1E94051-22AA-4D11-AFE3-99297562C4B3}" sibTransId="{F0C086AD-74CF-46DD-ADFC-8ED13940E7FD}"/>
    <dgm:cxn modelId="{BF56FE2C-8481-4CA5-BB65-9AF111F2A171}" type="presOf" srcId="{E5F1AF20-6AE0-4A22-8FC4-A9AC481B533F}" destId="{125FA75F-FB62-44F7-AF85-C130587E1E22}" srcOrd="0" destOrd="2" presId="urn:microsoft.com/office/officeart/2011/layout/TabList"/>
    <dgm:cxn modelId="{00B7DB2E-710F-4439-8BEE-D3C874D16493}" srcId="{E0245A8A-5194-477C-945E-06EC8129C3B9}" destId="{71E5A67D-334A-474C-B9B9-B71D11C534C6}" srcOrd="1" destOrd="0" parTransId="{D8A04FE4-96C9-49D0-A4B1-DFDB01E2710E}" sibTransId="{D47C7C47-E7DF-41BE-802C-624F3733F9A3}"/>
    <dgm:cxn modelId="{58FC8A30-EFE6-4AF0-974A-088A3DB941AD}" srcId="{100DD5BD-F4FB-4699-80D2-1E1BD72F4C90}" destId="{57DECE3D-78BD-458D-9C61-63D4C8F93244}" srcOrd="0" destOrd="0" parTransId="{05363EB2-9DE7-457A-A6FC-E8D6AC53465F}" sibTransId="{AA669B5A-6AB9-4C9E-8443-E42A687E87E3}"/>
    <dgm:cxn modelId="{FA525A67-6751-400F-A3A1-882BE1DB66FE}" type="presOf" srcId="{8AB7F597-0AF1-49E1-8CDA-69B639BB825A}" destId="{D23008A8-BEB7-479F-8142-8649BC5C3616}" srcOrd="0" destOrd="0" presId="urn:microsoft.com/office/officeart/2011/layout/TabList"/>
    <dgm:cxn modelId="{E267FD47-3AD4-48B1-BBFE-62262A3F665E}" srcId="{0DB3DA58-D4CB-4441-B00D-A71AF188E96F}" destId="{E0245A8A-5194-477C-945E-06EC8129C3B9}" srcOrd="2" destOrd="0" parTransId="{90847DAE-73E6-4FF1-87BA-AB0E51DBDD83}" sibTransId="{CF217659-2F82-4BF6-AF52-845EE5969EDF}"/>
    <dgm:cxn modelId="{EFFF6E6F-D0F2-410D-B165-A2B9551E7DD5}" type="presOf" srcId="{71E5A67D-334A-474C-B9B9-B71D11C534C6}" destId="{125FA75F-FB62-44F7-AF85-C130587E1E22}" srcOrd="0" destOrd="0" presId="urn:microsoft.com/office/officeart/2011/layout/TabList"/>
    <dgm:cxn modelId="{112A4358-C91E-46F6-9806-CA856F7E9F2A}" type="presOf" srcId="{32B5788D-1171-4897-9597-B95C0C6DB3B8}" destId="{125FA75F-FB62-44F7-AF85-C130587E1E22}" srcOrd="0" destOrd="1" presId="urn:microsoft.com/office/officeart/2011/layout/TabList"/>
    <dgm:cxn modelId="{F17D2F7B-726D-47A5-AA5F-6F8F96180600}" srcId="{0DB3DA58-D4CB-4441-B00D-A71AF188E96F}" destId="{100DD5BD-F4FB-4699-80D2-1E1BD72F4C90}" srcOrd="0" destOrd="0" parTransId="{2D73F855-D144-4B2E-AB1A-513726F66D33}" sibTransId="{D5C2A124-4506-498C-B4C1-7FE7F073107B}"/>
    <dgm:cxn modelId="{CEB74E87-9D1C-41C6-A75B-0A672EDF5406}" type="presOf" srcId="{C4D85507-0AC5-4A9A-825B-4CCAEEB44090}" destId="{028238C3-2143-4A65-A80F-9FD65BAD875B}" srcOrd="0" destOrd="0" presId="urn:microsoft.com/office/officeart/2011/layout/TabList"/>
    <dgm:cxn modelId="{B8B76393-D968-4BF4-B390-131F5556F3D6}" type="presOf" srcId="{F31961D4-3C6E-4FA0-BFC9-ED623B6B0E9D}" destId="{36A953C6-7A59-4EBB-A799-C8EFC55EE0A7}" srcOrd="0" destOrd="0" presId="urn:microsoft.com/office/officeart/2011/layout/TabList"/>
    <dgm:cxn modelId="{F7ADB9B8-8B35-4C95-B4B7-A8CFF20592AA}" srcId="{E0245A8A-5194-477C-945E-06EC8129C3B9}" destId="{E5F1AF20-6AE0-4A22-8FC4-A9AC481B533F}" srcOrd="3" destOrd="0" parTransId="{24BCF886-F081-4933-8F21-DBEFABCB6EAC}" sibTransId="{27CA75A1-4FF2-43DD-92CA-C5793C659F38}"/>
    <dgm:cxn modelId="{3DAF6EBE-9A56-4C00-A50D-706EA6220F40}" type="presOf" srcId="{57DECE3D-78BD-458D-9C61-63D4C8F93244}" destId="{67FC3273-7D25-46A9-8CAA-760CF0B58F42}" srcOrd="0" destOrd="0" presId="urn:microsoft.com/office/officeart/2011/layout/TabList"/>
    <dgm:cxn modelId="{B4788EBE-9336-4F7F-9F83-4F0879DD2651}" srcId="{100DD5BD-F4FB-4699-80D2-1E1BD72F4C90}" destId="{8AB7F597-0AF1-49E1-8CDA-69B639BB825A}" srcOrd="1" destOrd="0" parTransId="{100C263D-666E-4642-A4D1-D6C2A1F4BDC8}" sibTransId="{1A1935EE-4B3C-4D28-8A53-68D51D0813BE}"/>
    <dgm:cxn modelId="{8792BED6-8D2D-48AA-ADA7-BB54B067E9F3}" type="presOf" srcId="{0DB3DA58-D4CB-4441-B00D-A71AF188E96F}" destId="{24C2DDFF-4E82-45E1-9C63-EA4E993A02C1}" srcOrd="0" destOrd="0" presId="urn:microsoft.com/office/officeart/2011/layout/TabList"/>
    <dgm:cxn modelId="{7507E9EB-A11B-4A3B-9FC3-9540C250A92D}" srcId="{0DB3DA58-D4CB-4441-B00D-A71AF188E96F}" destId="{1D4B0A70-F2FA-4BBB-8DDF-45137CE81D2C}" srcOrd="1" destOrd="0" parTransId="{807A729D-0C72-4D57-96E1-48897BE7C88A}" sibTransId="{82596CBD-8581-45B8-958C-8E79DF238E0E}"/>
    <dgm:cxn modelId="{CF919AF6-E2DE-49C5-99CE-4E2CA84C168F}" type="presOf" srcId="{100DD5BD-F4FB-4699-80D2-1E1BD72F4C90}" destId="{20544587-E4FA-40F8-9F5C-AEB3D6122537}" srcOrd="0" destOrd="0" presId="urn:microsoft.com/office/officeart/2011/layout/TabList"/>
    <dgm:cxn modelId="{1A27C9D1-F421-4A20-BBC9-D882DB3E0A54}" type="presParOf" srcId="{24C2DDFF-4E82-45E1-9C63-EA4E993A02C1}" destId="{620EC8FB-4DE4-4E7C-9836-68CB5E632425}" srcOrd="0" destOrd="0" presId="urn:microsoft.com/office/officeart/2011/layout/TabList"/>
    <dgm:cxn modelId="{3F89EAAB-0757-45FF-8C62-B505EB04406C}" type="presParOf" srcId="{620EC8FB-4DE4-4E7C-9836-68CB5E632425}" destId="{67FC3273-7D25-46A9-8CAA-760CF0B58F42}" srcOrd="0" destOrd="0" presId="urn:microsoft.com/office/officeart/2011/layout/TabList"/>
    <dgm:cxn modelId="{C3BCCB64-2DFC-4D85-BDB7-8A3CC0E4B302}" type="presParOf" srcId="{620EC8FB-4DE4-4E7C-9836-68CB5E632425}" destId="{20544587-E4FA-40F8-9F5C-AEB3D6122537}" srcOrd="1" destOrd="0" presId="urn:microsoft.com/office/officeart/2011/layout/TabList"/>
    <dgm:cxn modelId="{5A13C56C-FFC7-4C13-A924-1D985CF9E634}" type="presParOf" srcId="{620EC8FB-4DE4-4E7C-9836-68CB5E632425}" destId="{5543733F-2B2E-4478-BFF6-EB1480360A4A}" srcOrd="2" destOrd="0" presId="urn:microsoft.com/office/officeart/2011/layout/TabList"/>
    <dgm:cxn modelId="{B9E53580-2E3C-445B-814E-A4AA9E37F3AE}" type="presParOf" srcId="{24C2DDFF-4E82-45E1-9C63-EA4E993A02C1}" destId="{D23008A8-BEB7-479F-8142-8649BC5C3616}" srcOrd="1" destOrd="0" presId="urn:microsoft.com/office/officeart/2011/layout/TabList"/>
    <dgm:cxn modelId="{26352FA3-2E3A-4F27-88FB-1F3A6CA1624B}" type="presParOf" srcId="{24C2DDFF-4E82-45E1-9C63-EA4E993A02C1}" destId="{98BBDD91-D7D1-4E85-BF6C-58E982BDF179}" srcOrd="2" destOrd="0" presId="urn:microsoft.com/office/officeart/2011/layout/TabList"/>
    <dgm:cxn modelId="{78E6513B-50ED-4959-B931-5AB9DE372CB9}" type="presParOf" srcId="{24C2DDFF-4E82-45E1-9C63-EA4E993A02C1}" destId="{1CBAD9B4-2A23-426D-8483-324BDE08786B}" srcOrd="3" destOrd="0" presId="urn:microsoft.com/office/officeart/2011/layout/TabList"/>
    <dgm:cxn modelId="{F769B81B-2C1F-4E22-9F60-F7ED4B593C61}" type="presParOf" srcId="{1CBAD9B4-2A23-426D-8483-324BDE08786B}" destId="{028238C3-2143-4A65-A80F-9FD65BAD875B}" srcOrd="0" destOrd="0" presId="urn:microsoft.com/office/officeart/2011/layout/TabList"/>
    <dgm:cxn modelId="{5899181C-03FC-4798-A47C-9BDC8FADD114}" type="presParOf" srcId="{1CBAD9B4-2A23-426D-8483-324BDE08786B}" destId="{15CF22AC-127F-4801-85AE-09916E29016E}" srcOrd="1" destOrd="0" presId="urn:microsoft.com/office/officeart/2011/layout/TabList"/>
    <dgm:cxn modelId="{9E1ECEB2-BA2F-4FAD-B140-E89F9DA8B65F}" type="presParOf" srcId="{1CBAD9B4-2A23-426D-8483-324BDE08786B}" destId="{7295982A-9D8C-43D8-B790-EA2A09E4E356}" srcOrd="2" destOrd="0" presId="urn:microsoft.com/office/officeart/2011/layout/TabList"/>
    <dgm:cxn modelId="{137F0715-AF5D-4965-A3B7-F99AF6A0561A}" type="presParOf" srcId="{24C2DDFF-4E82-45E1-9C63-EA4E993A02C1}" destId="{36A953C6-7A59-4EBB-A799-C8EFC55EE0A7}" srcOrd="4" destOrd="0" presId="urn:microsoft.com/office/officeart/2011/layout/TabList"/>
    <dgm:cxn modelId="{1E0B399F-E605-42E2-833A-CABA84110D75}" type="presParOf" srcId="{24C2DDFF-4E82-45E1-9C63-EA4E993A02C1}" destId="{01D9934F-C72E-4765-AF65-9DAC72EABCBE}" srcOrd="5" destOrd="0" presId="urn:microsoft.com/office/officeart/2011/layout/TabList"/>
    <dgm:cxn modelId="{B5895D9E-0E0B-42B6-90DB-A37B9F68C3D3}" type="presParOf" srcId="{24C2DDFF-4E82-45E1-9C63-EA4E993A02C1}" destId="{C070D6B5-5104-45D6-AF17-A99ABB4BA4D2}" srcOrd="6" destOrd="0" presId="urn:microsoft.com/office/officeart/2011/layout/TabList"/>
    <dgm:cxn modelId="{1A99C7EB-023D-441C-A3CE-A9EDCF7DB4E5}" type="presParOf" srcId="{C070D6B5-5104-45D6-AF17-A99ABB4BA4D2}" destId="{1BFA3A85-58DE-4A8C-ABAE-D9DA30D6B628}" srcOrd="0" destOrd="0" presId="urn:microsoft.com/office/officeart/2011/layout/TabList"/>
    <dgm:cxn modelId="{B67061FC-E45A-48A9-9A8B-152617436F1D}" type="presParOf" srcId="{C070D6B5-5104-45D6-AF17-A99ABB4BA4D2}" destId="{08C4203C-C305-4DB1-AAEE-AD9C8A63F8D5}" srcOrd="1" destOrd="0" presId="urn:microsoft.com/office/officeart/2011/layout/TabList"/>
    <dgm:cxn modelId="{B3EFD7DA-E522-4E74-9522-E7F4910265CF}" type="presParOf" srcId="{C070D6B5-5104-45D6-AF17-A99ABB4BA4D2}" destId="{C1FCAEDB-14CF-4D9C-9AC0-D72AF6948E51}" srcOrd="2" destOrd="0" presId="urn:microsoft.com/office/officeart/2011/layout/TabList"/>
    <dgm:cxn modelId="{140A674D-B1F0-4540-83EA-B6C82879C11E}" type="presParOf" srcId="{24C2DDFF-4E82-45E1-9C63-EA4E993A02C1}" destId="{125FA75F-FB62-44F7-AF85-C130587E1E22}" srcOrd="7" destOrd="0" presId="urn:microsoft.com/office/officeart/2011/layout/Tab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CAEDB-14CF-4D9C-9AC0-D72AF6948E51}">
      <dsp:nvSpPr>
        <dsp:cNvPr id="0" name=""/>
        <dsp:cNvSpPr/>
      </dsp:nvSpPr>
      <dsp:spPr>
        <a:xfrm>
          <a:off x="0" y="3550832"/>
          <a:ext cx="1161991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5982A-9D8C-43D8-B790-EA2A09E4E356}">
      <dsp:nvSpPr>
        <dsp:cNvPr id="0" name=""/>
        <dsp:cNvSpPr/>
      </dsp:nvSpPr>
      <dsp:spPr>
        <a:xfrm>
          <a:off x="0" y="2025693"/>
          <a:ext cx="1161991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43733F-2B2E-4478-BFF6-EB1480360A4A}">
      <dsp:nvSpPr>
        <dsp:cNvPr id="0" name=""/>
        <dsp:cNvSpPr/>
      </dsp:nvSpPr>
      <dsp:spPr>
        <a:xfrm>
          <a:off x="0" y="500554"/>
          <a:ext cx="1161991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FC3273-7D25-46A9-8CAA-760CF0B58F42}">
      <dsp:nvSpPr>
        <dsp:cNvPr id="0" name=""/>
        <dsp:cNvSpPr/>
      </dsp:nvSpPr>
      <dsp:spPr>
        <a:xfrm>
          <a:off x="3021177" y="558"/>
          <a:ext cx="8598735" cy="499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3021177" y="558"/>
        <a:ext cx="8598735" cy="499996"/>
      </dsp:txXfrm>
    </dsp:sp>
    <dsp:sp modelId="{20544587-E4FA-40F8-9F5C-AEB3D6122537}">
      <dsp:nvSpPr>
        <dsp:cNvPr id="0" name=""/>
        <dsp:cNvSpPr/>
      </dsp:nvSpPr>
      <dsp:spPr>
        <a:xfrm>
          <a:off x="0" y="558"/>
          <a:ext cx="3021177" cy="499996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+mn-lt"/>
              <a:ea typeface="+mn-ea"/>
              <a:cs typeface="+mn-cs"/>
            </a:rPr>
            <a:t>PROTECT THE CORE</a:t>
          </a:r>
          <a:endParaRPr lang="en-IN" sz="2000" kern="1200" dirty="0">
            <a:latin typeface="+mn-lt"/>
            <a:ea typeface="+mn-ea"/>
            <a:cs typeface="+mn-cs"/>
          </a:endParaRPr>
        </a:p>
      </dsp:txBody>
      <dsp:txXfrm>
        <a:off x="24412" y="24970"/>
        <a:ext cx="2972353" cy="475584"/>
      </dsp:txXfrm>
    </dsp:sp>
    <dsp:sp modelId="{D23008A8-BEB7-479F-8142-8649BC5C3616}">
      <dsp:nvSpPr>
        <dsp:cNvPr id="0" name=""/>
        <dsp:cNvSpPr/>
      </dsp:nvSpPr>
      <dsp:spPr>
        <a:xfrm>
          <a:off x="0" y="500554"/>
          <a:ext cx="11619913" cy="1000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/>
            <a:t>Continue lifecycle expansion through differentiated delivery, new indications, earlier use and combinations</a:t>
          </a:r>
        </a:p>
      </dsp:txBody>
      <dsp:txXfrm>
        <a:off x="0" y="500554"/>
        <a:ext cx="11619913" cy="1000142"/>
      </dsp:txXfrm>
    </dsp:sp>
    <dsp:sp modelId="{028238C3-2143-4A65-A80F-9FD65BAD875B}">
      <dsp:nvSpPr>
        <dsp:cNvPr id="0" name=""/>
        <dsp:cNvSpPr/>
      </dsp:nvSpPr>
      <dsp:spPr>
        <a:xfrm>
          <a:off x="3021177" y="1525696"/>
          <a:ext cx="8598735" cy="499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3021177" y="1525696"/>
        <a:ext cx="8598735" cy="499996"/>
      </dsp:txXfrm>
    </dsp:sp>
    <dsp:sp modelId="{15CF22AC-127F-4801-85AE-09916E29016E}">
      <dsp:nvSpPr>
        <dsp:cNvPr id="0" name=""/>
        <dsp:cNvSpPr/>
      </dsp:nvSpPr>
      <dsp:spPr>
        <a:xfrm>
          <a:off x="0" y="1487657"/>
          <a:ext cx="3021177" cy="499996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/>
              <a:ea typeface="+mn-ea"/>
              <a:cs typeface="+mn-cs"/>
            </a:rPr>
            <a:t>CONCENTRATE INVESTMENT</a:t>
          </a:r>
        </a:p>
      </dsp:txBody>
      <dsp:txXfrm>
        <a:off x="24412" y="1512069"/>
        <a:ext cx="2972353" cy="475584"/>
      </dsp:txXfrm>
    </dsp:sp>
    <dsp:sp modelId="{36A953C6-7A59-4EBB-A799-C8EFC55EE0A7}">
      <dsp:nvSpPr>
        <dsp:cNvPr id="0" name=""/>
        <dsp:cNvSpPr/>
      </dsp:nvSpPr>
      <dsp:spPr>
        <a:xfrm>
          <a:off x="0" y="2025693"/>
          <a:ext cx="11619913" cy="1000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Prioritize mature programs with meaningful commercial opportunity and relevance to the 2028 – 2031 transition</a:t>
          </a:r>
          <a:r>
            <a:rPr lang="en-IN" sz="1300" kern="1200" dirty="0"/>
            <a:t>.</a:t>
          </a:r>
        </a:p>
      </dsp:txBody>
      <dsp:txXfrm>
        <a:off x="0" y="2025693"/>
        <a:ext cx="11619913" cy="1000142"/>
      </dsp:txXfrm>
    </dsp:sp>
    <dsp:sp modelId="{1BFA3A85-58DE-4A8C-ABAE-D9DA30D6B628}">
      <dsp:nvSpPr>
        <dsp:cNvPr id="0" name=""/>
        <dsp:cNvSpPr/>
      </dsp:nvSpPr>
      <dsp:spPr>
        <a:xfrm>
          <a:off x="3021177" y="3050835"/>
          <a:ext cx="8598735" cy="499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3021177" y="3050835"/>
        <a:ext cx="8598735" cy="499996"/>
      </dsp:txXfrm>
    </dsp:sp>
    <dsp:sp modelId="{08C4203C-C305-4DB1-AAEE-AD9C8A63F8D5}">
      <dsp:nvSpPr>
        <dsp:cNvPr id="0" name=""/>
        <dsp:cNvSpPr/>
      </dsp:nvSpPr>
      <dsp:spPr>
        <a:xfrm>
          <a:off x="0" y="3050835"/>
          <a:ext cx="3021177" cy="499996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Calibri" panose="020F0502020204030204"/>
              <a:ea typeface="+mn-ea"/>
              <a:cs typeface="+mn-cs"/>
            </a:rPr>
            <a:t>DIVERSIFY THE FUTURE</a:t>
          </a:r>
          <a:endParaRPr lang="en-IN" sz="2000" kern="1200" dirty="0">
            <a:latin typeface="Calibri" panose="020F0502020204030204"/>
            <a:ea typeface="+mn-ea"/>
            <a:cs typeface="+mn-cs"/>
          </a:endParaRPr>
        </a:p>
      </dsp:txBody>
      <dsp:txXfrm>
        <a:off x="24412" y="3075247"/>
        <a:ext cx="2972353" cy="475584"/>
      </dsp:txXfrm>
    </dsp:sp>
    <dsp:sp modelId="{125FA75F-FB62-44F7-AF85-C130587E1E22}">
      <dsp:nvSpPr>
        <dsp:cNvPr id="0" name=""/>
        <dsp:cNvSpPr/>
      </dsp:nvSpPr>
      <dsp:spPr>
        <a:xfrm>
          <a:off x="0" y="3550832"/>
          <a:ext cx="11619913" cy="1000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>
              <a:latin typeface="Calibri" panose="020F0502020204030204"/>
              <a:ea typeface="+mn-ea"/>
              <a:cs typeface="+mn-cs"/>
            </a:rPr>
            <a:t>Build multiple oncology growth engines across mechanisms and modalities rather than seeking one successor.</a:t>
          </a:r>
          <a:endParaRPr lang="en-IN" sz="1600" kern="1200" dirty="0">
            <a:latin typeface="Calibri" panose="020F0502020204030204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3550832"/>
        <a:ext cx="11619913" cy="1000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</cdr:x>
      <cdr:y>0</cdr:y>
    </cdr:from>
    <cdr:to>
      <cdr:x>0.5</cdr:x>
      <cdr:y>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0B1422E9-45CC-49DE-9C2F-1D76606B2C50}"/>
            </a:ext>
          </a:extLst>
        </cdr:cNvPr>
        <cdr:cNvCxnSpPr/>
      </cdr:nvCxnSpPr>
      <cdr:spPr>
        <a:xfrm xmlns:a="http://schemas.openxmlformats.org/drawingml/2006/main">
          <a:off x="5257800" y="0"/>
          <a:ext cx="0" cy="4351338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</cdr:x>
      <cdr:y>0.49861</cdr:y>
    </cdr:from>
    <cdr:to>
      <cdr:x>1</cdr:x>
      <cdr:y>0.5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BDE344C9-B93D-462A-92CE-FF65E38AFAF7}"/>
            </a:ext>
          </a:extLst>
        </cdr:cNvPr>
        <cdr:cNvCxnSpPr>
          <a:endCxn xmlns:a="http://schemas.openxmlformats.org/drawingml/2006/main" id="4" idx="3"/>
        </cdr:cNvCxnSpPr>
      </cdr:nvCxnSpPr>
      <cdr:spPr>
        <a:xfrm xmlns:a="http://schemas.openxmlformats.org/drawingml/2006/main">
          <a:off x="-8206" y="2169600"/>
          <a:ext cx="10523806" cy="606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0.15975</cdr:x>
      <cdr:y>0.17854</cdr:y>
    </cdr:from>
    <cdr:to>
      <cdr:x>0.37781</cdr:x>
      <cdr:y>0.32079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64CFD162-1D28-4E76-A562-F02FD5E9F148}"/>
            </a:ext>
          </a:extLst>
        </cdr:cNvPr>
        <cdr:cNvSpPr txBox="1"/>
      </cdr:nvSpPr>
      <cdr:spPr>
        <a:xfrm xmlns:a="http://schemas.openxmlformats.org/drawingml/2006/main">
          <a:off x="1679917" y="776898"/>
          <a:ext cx="2293034" cy="6189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D006-DDD9-4B0F-B1C8-65129F521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BD9E0-2CCB-436D-ACEC-D50719AA0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00E35-AE90-496E-BA16-8289A9FA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A30A-0BDA-4EAC-BBF7-9D70785F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5A72C-78F1-4041-A409-F5E14925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8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20C1-EDDF-49E6-8DB8-180C82A8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44B8-6DD6-4A5E-A7CC-4A02A4384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C8D1-8F37-4B4E-AFC0-795A7DDE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A19C9-30F5-43DD-80BD-20B2FB9E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A22AE-DA33-4B24-BB77-EFED68F7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60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1715-ACE4-4071-B728-5FFF40E7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AABF1-64F0-4D28-9B62-D1A40E4F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64754-BA5D-4327-8C4F-8300E80C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D605C-8FCD-429E-A882-E61A4718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5E1B8-044F-49A6-80C6-D65F0E6D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78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B91F-2FC2-4C50-A4D9-7D386E9A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28A73-3D78-4EE0-8BD3-7F6FD89B0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A4A4B-4495-4108-8091-005FC61DD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761E7-D779-4E1E-A6F8-D6592263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7902-15DB-44EA-90F8-F33D8051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0FF68-0EC9-4E11-B05D-75C1CF1F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52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FCB7-1A2C-49A5-B474-8AEAA3BE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89FA8-C836-4B10-83C2-A89E04E18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E7928-6A94-4F9F-8F77-20A08D1A1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B4550-6676-471D-984F-189060477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4CB8E-C90C-46BE-A774-C1FF84085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C650A-26B5-44DA-94B0-70F11209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AD157-54C8-4F5A-B0AA-7306824D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48324-2B3F-4B95-AC69-A5C18428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25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A7AD-2EB3-4B1D-A0F8-040D7BEB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BB5BC-D056-418C-B53B-DDD3F3A8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AEFD2-280D-4E9E-920E-6E5F2880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A22EC-AD22-4EEB-A185-0C7F2202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03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1DD82-EA8F-4E86-8A57-C4FCCE51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F5425-74FE-45DD-9A63-47B98830C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765F0-8000-4E0A-A85B-82054CF3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3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2901-918A-4D0F-95AF-CA9498CC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B1A69-F31B-491C-B750-BF05905C5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2D597-CD4F-4EFC-9985-F35D9D678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4EE2D-CBA8-4083-B3D9-5C322427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E614B-3978-4E07-B970-7AF1C54F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F5D98-C1FB-4D41-A7E3-B21C5BED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7D89-45A0-4C98-BBC8-B0ABD21F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D243C-39D8-48F6-9131-9009EAA82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5F882-961D-4EEC-9CE1-D2B654954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19929-3685-4248-8ECC-DC74A517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49746-2EE7-40A1-9293-8072A21C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71A3F-384D-4B17-9D20-9EBFB0A3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77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5CAA-D1AD-46E1-B9BD-E353C2BE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A2EB-616C-47DE-BF97-3C84D432A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A6C1-48C8-4BBC-ACD3-C4382FE1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713E-9134-463A-AEF6-CE5A6A44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99743-178D-4E99-8BA7-421566DB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75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2365B-AA99-4C83-82D0-68D1F44B8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9042-EEDF-478A-BCAF-DDAAC4B04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CB030-62A1-45C2-ADED-18245AF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D0667-9C83-401F-9B83-2832C532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3955A-00C7-4770-82D3-EDD9821A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3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B9414-7E87-4527-81EE-1CE9D29E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95142-1C99-49DA-8213-F15CEAF4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AB5F-6863-4610-868A-2920C5411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EC2D-1150-424B-9E9E-4B3656A3AFA6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EE7D5-7CD4-4452-938E-76DD38A95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FEF3E-1899-40D1-8292-1C934FD32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5C8D0-E9E0-4DE5-9E9D-C7849084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53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FF25-3B53-4406-9789-F6C8B1E6A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784" y="1735805"/>
            <a:ext cx="10686896" cy="1520157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Defending the Crown: Keytruda’s 2028 LOE &amp; Merck’s Next-Generation Oncology Strategy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27EA9-9755-4243-9AB3-DBC5F15FD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1004" y="3602038"/>
            <a:ext cx="10133566" cy="1152841"/>
          </a:xfrm>
        </p:spPr>
        <p:txBody>
          <a:bodyPr/>
          <a:lstStyle/>
          <a:p>
            <a:pPr algn="just"/>
            <a:r>
              <a:rPr lang="en-US" b="1" i="1" dirty="0">
                <a:latin typeface="Book Antiqua" panose="02040602050305030304" pitchFamily="18" charset="0"/>
              </a:rPr>
              <a:t>-</a:t>
            </a:r>
            <a:r>
              <a:rPr lang="en-US" i="1" dirty="0">
                <a:latin typeface="Book Antiqua" panose="02040602050305030304" pitchFamily="18" charset="0"/>
              </a:rPr>
              <a:t> </a:t>
            </a:r>
            <a:r>
              <a:rPr lang="en-US" sz="2000" i="1" dirty="0">
                <a:latin typeface="Book Antiqua" panose="02040602050305030304" pitchFamily="18" charset="0"/>
              </a:rPr>
              <a:t>Keytruda’s 2028 LOE creates a significant franchise transition, requiring Merck to simultaneously defend the existing franchise and accelerate the next generation of oncology growth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3C84D-AA4B-4008-A093-A818C875C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7" y="364204"/>
            <a:ext cx="8346899" cy="1561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B99274-DE6E-4CD2-B5F2-BD65636A11D9}"/>
              </a:ext>
            </a:extLst>
          </p:cNvPr>
          <p:cNvSpPr txBox="1"/>
          <p:nvPr/>
        </p:nvSpPr>
        <p:spPr>
          <a:xfrm>
            <a:off x="745588" y="5345723"/>
            <a:ext cx="2672861" cy="92333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IN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7FB00-874B-4E64-83A1-02007D5A5AE6}"/>
              </a:ext>
            </a:extLst>
          </p:cNvPr>
          <p:cNvSpPr txBox="1"/>
          <p:nvPr/>
        </p:nvSpPr>
        <p:spPr>
          <a:xfrm>
            <a:off x="4759569" y="5345723"/>
            <a:ext cx="2672861" cy="87219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98E339-5E8D-43FB-868B-62F9C8BCAB10}"/>
              </a:ext>
            </a:extLst>
          </p:cNvPr>
          <p:cNvSpPr txBox="1"/>
          <p:nvPr/>
        </p:nvSpPr>
        <p:spPr>
          <a:xfrm>
            <a:off x="8832236" y="5345723"/>
            <a:ext cx="2672861" cy="872196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4D509-CD68-49F7-ADD6-05320E31FB21}"/>
              </a:ext>
            </a:extLst>
          </p:cNvPr>
          <p:cNvSpPr txBox="1"/>
          <p:nvPr/>
        </p:nvSpPr>
        <p:spPr>
          <a:xfrm>
            <a:off x="607185" y="5345723"/>
            <a:ext cx="2949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>
                    <a:lumMod val="95000"/>
                  </a:schemeClr>
                </a:solidFill>
              </a:rPr>
              <a:t>DEFEND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613B9-1E9A-43A7-BE83-A57750DDD094}"/>
              </a:ext>
            </a:extLst>
          </p:cNvPr>
          <p:cNvSpPr txBox="1"/>
          <p:nvPr/>
        </p:nvSpPr>
        <p:spPr>
          <a:xfrm>
            <a:off x="4818255" y="5438055"/>
            <a:ext cx="267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ACCELERATE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1B192B-F2E8-4AB3-B8DE-A6DDC0344931}"/>
              </a:ext>
            </a:extLst>
          </p:cNvPr>
          <p:cNvSpPr txBox="1"/>
          <p:nvPr/>
        </p:nvSpPr>
        <p:spPr>
          <a:xfrm>
            <a:off x="9118140" y="5428490"/>
            <a:ext cx="2321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</a:rPr>
              <a:t>REPLACE</a:t>
            </a:r>
          </a:p>
        </p:txBody>
      </p:sp>
    </p:spTree>
    <p:extLst>
      <p:ext uri="{BB962C8B-B14F-4D97-AF65-F5344CB8AC3E}">
        <p14:creationId xmlns:p14="http://schemas.microsoft.com/office/powerpoint/2010/main" val="253063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7548-02D4-41BC-9E61-2C3986C1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07" y="-180648"/>
            <a:ext cx="11577711" cy="1325563"/>
          </a:xfrm>
        </p:spPr>
        <p:txBody>
          <a:bodyPr>
            <a:normAutofit/>
          </a:bodyPr>
          <a:lstStyle/>
          <a:p>
            <a:r>
              <a:rPr lang="en-IN" sz="3600" dirty="0"/>
              <a:t>Keytruda LOE: Defend the Franchise, accelerate the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B674-1B8A-47C8-A74B-6A8FB16BD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507" y="4909624"/>
            <a:ext cx="11840300" cy="1856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2"/>
                </a:solidFill>
              </a:rPr>
              <a:t>Strategic question   </a:t>
            </a:r>
          </a:p>
          <a:p>
            <a:pPr marL="0" indent="0" algn="ctr">
              <a:buNone/>
            </a:pPr>
            <a:r>
              <a:rPr lang="en-IN" sz="2400" i="1" dirty="0"/>
              <a:t>Can Merck offset Keytruda post- 2028 erosion by defending the existing franchise while accelerating the next generation of oncology growth 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56268-D92F-4CA0-B14B-90CC79B30B72}"/>
              </a:ext>
            </a:extLst>
          </p:cNvPr>
          <p:cNvSpPr/>
          <p:nvPr/>
        </p:nvSpPr>
        <p:spPr>
          <a:xfrm>
            <a:off x="436097" y="1871002"/>
            <a:ext cx="3530992" cy="19694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+mj-lt"/>
              </a:rPr>
              <a:t>1 | Revenue Exposure</a:t>
            </a: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  <a:p>
            <a:r>
              <a:rPr lang="en-IN" i="1" dirty="0">
                <a:solidFill>
                  <a:schemeClr val="tx1"/>
                </a:solidFill>
              </a:rPr>
              <a:t>Keytruda contributes 57 % of Merck Pharma revenue: estimated $ 96.6 Billion (2015 – 2025) could be exposed to post – LOE erosion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A217DF-067B-41D7-96D8-62AD40DAEE5A}"/>
              </a:ext>
            </a:extLst>
          </p:cNvPr>
          <p:cNvSpPr/>
          <p:nvPr/>
        </p:nvSpPr>
        <p:spPr>
          <a:xfrm>
            <a:off x="4459456" y="1871003"/>
            <a:ext cx="3530992" cy="19694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02 | Clinical Response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i="1" dirty="0">
                <a:solidFill>
                  <a:schemeClr val="tx1"/>
                </a:solidFill>
              </a:rPr>
              <a:t>Relevant pembrolizumab programs create opportunities across multiple disease areas with key clinical milestones extending through 2028.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A713D-AA92-4991-BA00-B2A64B0A12BF}"/>
              </a:ext>
            </a:extLst>
          </p:cNvPr>
          <p:cNvSpPr/>
          <p:nvPr/>
        </p:nvSpPr>
        <p:spPr>
          <a:xfrm>
            <a:off x="8482815" y="1871002"/>
            <a:ext cx="3530992" cy="19694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03 | Portfolio transition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i="1" dirty="0">
                <a:solidFill>
                  <a:schemeClr val="tx1"/>
                </a:solidFill>
              </a:rPr>
              <a:t>Next – generation oncology assets could provide replacement growth: timing and probability remain the critical constraints.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1F575-095B-4E00-9558-8C0500DF1FAC}"/>
              </a:ext>
            </a:extLst>
          </p:cNvPr>
          <p:cNvSpPr/>
          <p:nvPr/>
        </p:nvSpPr>
        <p:spPr>
          <a:xfrm>
            <a:off x="323557" y="1871002"/>
            <a:ext cx="112540" cy="1969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BC5CCF-17EB-4535-AF3F-FE9198241799}"/>
              </a:ext>
            </a:extLst>
          </p:cNvPr>
          <p:cNvSpPr/>
          <p:nvPr/>
        </p:nvSpPr>
        <p:spPr>
          <a:xfrm>
            <a:off x="4346916" y="1871001"/>
            <a:ext cx="112540" cy="1969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24323-CB82-497C-83D1-D2B0609BD6AA}"/>
              </a:ext>
            </a:extLst>
          </p:cNvPr>
          <p:cNvSpPr/>
          <p:nvPr/>
        </p:nvSpPr>
        <p:spPr>
          <a:xfrm>
            <a:off x="8370275" y="1871001"/>
            <a:ext cx="112540" cy="1969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F3C659-9512-4011-BC51-B1FF715190AD}"/>
              </a:ext>
            </a:extLst>
          </p:cNvPr>
          <p:cNvCxnSpPr/>
          <p:nvPr/>
        </p:nvCxnSpPr>
        <p:spPr>
          <a:xfrm>
            <a:off x="173507" y="4740812"/>
            <a:ext cx="11685558" cy="0"/>
          </a:xfrm>
          <a:prstGeom prst="lin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78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B28BB1-3506-448F-A5A8-06B59707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79" y="-615724"/>
            <a:ext cx="10515600" cy="19758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dirty="0"/>
              <a:t>Keytruda is a portfolio-level concentration for Merck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5167B3-5DA3-4957-9B10-1C1924ED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069" y="3938954"/>
            <a:ext cx="6179993" cy="47722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dirty="0"/>
              <a:t>                   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441930-187A-4659-8C8A-374A3D739016}"/>
              </a:ext>
            </a:extLst>
          </p:cNvPr>
          <p:cNvSpPr/>
          <p:nvPr/>
        </p:nvSpPr>
        <p:spPr>
          <a:xfrm>
            <a:off x="107575" y="874064"/>
            <a:ext cx="5988425" cy="5628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FC3D0E0-860E-4F7D-8E35-3C25D5091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190671"/>
              </p:ext>
            </p:extLst>
          </p:nvPr>
        </p:nvGraphicFramePr>
        <p:xfrm>
          <a:off x="107576" y="874064"/>
          <a:ext cx="5988424" cy="5617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A27A4B3-E753-45A3-90B4-EB14406CA749}"/>
              </a:ext>
            </a:extLst>
          </p:cNvPr>
          <p:cNvSpPr txBox="1"/>
          <p:nvPr/>
        </p:nvSpPr>
        <p:spPr>
          <a:xfrm>
            <a:off x="3798277" y="53597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F8196-2A68-4762-9028-7FE2373BBCDB}"/>
              </a:ext>
            </a:extLst>
          </p:cNvPr>
          <p:cNvSpPr txBox="1"/>
          <p:nvPr/>
        </p:nvSpPr>
        <p:spPr>
          <a:xfrm>
            <a:off x="12084425" y="99457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837257-CD60-4289-A10F-DE731E80004E}"/>
              </a:ext>
            </a:extLst>
          </p:cNvPr>
          <p:cNvSpPr/>
          <p:nvPr/>
        </p:nvSpPr>
        <p:spPr>
          <a:xfrm>
            <a:off x="7041770" y="874064"/>
            <a:ext cx="4963284" cy="11798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01 | Keytruda Revenue </a:t>
            </a:r>
          </a:p>
          <a:p>
            <a:r>
              <a:rPr lang="en-IN" sz="2400" dirty="0"/>
              <a:t>    </a:t>
            </a:r>
            <a:r>
              <a:rPr lang="en-IN" sz="2400" i="1" dirty="0">
                <a:solidFill>
                  <a:schemeClr val="bg2">
                    <a:lumMod val="50000"/>
                  </a:schemeClr>
                </a:solidFill>
              </a:rPr>
              <a:t>$8.4B | FY 2026 </a:t>
            </a:r>
          </a:p>
          <a:p>
            <a:r>
              <a:rPr lang="en-IN" i="1" dirty="0">
                <a:solidFill>
                  <a:schemeClr val="tx1"/>
                </a:solidFill>
                <a:latin typeface="+mj-lt"/>
              </a:rPr>
              <a:t> 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D26B07-4321-484B-9379-39C52B89AE4C}"/>
              </a:ext>
            </a:extLst>
          </p:cNvPr>
          <p:cNvSpPr/>
          <p:nvPr/>
        </p:nvSpPr>
        <p:spPr>
          <a:xfrm>
            <a:off x="7048868" y="2353290"/>
            <a:ext cx="4963284" cy="11798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02 | YoY growth </a:t>
            </a:r>
          </a:p>
          <a:p>
            <a:r>
              <a:rPr lang="en-IN" dirty="0"/>
              <a:t>      </a:t>
            </a:r>
            <a:r>
              <a:rPr lang="en-IN" sz="2400" i="1" dirty="0">
                <a:solidFill>
                  <a:schemeClr val="bg2">
                    <a:lumMod val="50000"/>
                  </a:schemeClr>
                </a:solidFill>
              </a:rPr>
              <a:t>+4% | FY 2026 </a:t>
            </a:r>
          </a:p>
          <a:p>
            <a:r>
              <a:rPr lang="en-IN" i="1" dirty="0">
                <a:solidFill>
                  <a:schemeClr val="tx1"/>
                </a:solidFill>
                <a:latin typeface="+mj-lt"/>
              </a:rPr>
              <a:t> 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B7FC04-3F11-4CD6-9149-E05066BBB96A}"/>
              </a:ext>
            </a:extLst>
          </p:cNvPr>
          <p:cNvSpPr/>
          <p:nvPr/>
        </p:nvSpPr>
        <p:spPr>
          <a:xfrm>
            <a:off x="7041770" y="5322280"/>
            <a:ext cx="4963284" cy="11798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dirty="0"/>
          </a:p>
          <a:p>
            <a:r>
              <a:rPr lang="en-IN" sz="2400" dirty="0"/>
              <a:t>04 | Share of Merck’s Pharma Revenue     </a:t>
            </a:r>
          </a:p>
          <a:p>
            <a:pPr marL="0" indent="0">
              <a:buNone/>
            </a:pPr>
            <a:r>
              <a:rPr lang="en-IN" sz="2400" i="1" dirty="0">
                <a:solidFill>
                  <a:schemeClr val="bg2">
                    <a:lumMod val="25000"/>
                  </a:schemeClr>
                </a:solidFill>
              </a:rPr>
              <a:t>      </a:t>
            </a:r>
            <a:r>
              <a:rPr lang="en-IN" sz="2400" i="1" dirty="0">
                <a:solidFill>
                  <a:schemeClr val="bg2">
                    <a:lumMod val="50000"/>
                  </a:schemeClr>
                </a:solidFill>
              </a:rPr>
              <a:t>~56.8%</a:t>
            </a:r>
          </a:p>
          <a:p>
            <a:r>
              <a:rPr lang="en-IN" i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5FB163-2370-419B-9011-403FDCF8F89E}"/>
              </a:ext>
            </a:extLst>
          </p:cNvPr>
          <p:cNvSpPr/>
          <p:nvPr/>
        </p:nvSpPr>
        <p:spPr>
          <a:xfrm>
            <a:off x="7048868" y="3852687"/>
            <a:ext cx="4963284" cy="11798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0">
              <a:buNone/>
            </a:pPr>
            <a:r>
              <a:rPr lang="en-IN" sz="2400" dirty="0"/>
              <a:t>03 |Major geography </a:t>
            </a:r>
          </a:p>
          <a:p>
            <a:pPr indent="0">
              <a:buNone/>
            </a:pPr>
            <a:r>
              <a:rPr lang="en-IN" sz="2400" i="1" dirty="0">
                <a:solidFill>
                  <a:schemeClr val="bg2">
                    <a:lumMod val="50000"/>
                  </a:schemeClr>
                </a:solidFill>
              </a:rPr>
              <a:t>      North America</a:t>
            </a:r>
          </a:p>
          <a:p>
            <a:r>
              <a:rPr lang="en-IN" i="1" dirty="0">
                <a:solidFill>
                  <a:schemeClr val="tx1"/>
                </a:solidFill>
                <a:latin typeface="+mj-lt"/>
              </a:rPr>
              <a:t> 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CF6916-5BDF-42B4-B005-153254CD8E8E}"/>
              </a:ext>
            </a:extLst>
          </p:cNvPr>
          <p:cNvSpPr/>
          <p:nvPr/>
        </p:nvSpPr>
        <p:spPr>
          <a:xfrm>
            <a:off x="6962399" y="874064"/>
            <a:ext cx="86469" cy="11894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EF4B67-FE13-4ACA-ABD0-24FB56727D8A}"/>
              </a:ext>
            </a:extLst>
          </p:cNvPr>
          <p:cNvSpPr/>
          <p:nvPr/>
        </p:nvSpPr>
        <p:spPr>
          <a:xfrm>
            <a:off x="6987081" y="2343657"/>
            <a:ext cx="86469" cy="11894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E30C0B-9256-4CB7-A88D-727CD5020469}"/>
              </a:ext>
            </a:extLst>
          </p:cNvPr>
          <p:cNvSpPr/>
          <p:nvPr/>
        </p:nvSpPr>
        <p:spPr>
          <a:xfrm>
            <a:off x="6987080" y="3842149"/>
            <a:ext cx="86469" cy="11798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6E39A5-CBB9-4287-B6EE-3A93A76E49B3}"/>
              </a:ext>
            </a:extLst>
          </p:cNvPr>
          <p:cNvSpPr/>
          <p:nvPr/>
        </p:nvSpPr>
        <p:spPr>
          <a:xfrm>
            <a:off x="6972991" y="5317588"/>
            <a:ext cx="88991" cy="11739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0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52B3-FB44-4844-9AF3-54409B79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60" y="-39919"/>
            <a:ext cx="11189677" cy="76029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Keytruda’s value is distributed across a broad oncology franchise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CE4C-F4E0-4D9B-B649-079E6171A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681036"/>
            <a:ext cx="11978640" cy="598704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939F8-C305-4322-96F8-A24451E59AF4}"/>
              </a:ext>
            </a:extLst>
          </p:cNvPr>
          <p:cNvSpPr/>
          <p:nvPr/>
        </p:nvSpPr>
        <p:spPr>
          <a:xfrm>
            <a:off x="234460" y="681035"/>
            <a:ext cx="6236678" cy="5846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28F41E5-7009-4CAE-AEDA-81E14556B7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4817087"/>
              </p:ext>
            </p:extLst>
          </p:nvPr>
        </p:nvGraphicFramePr>
        <p:xfrm>
          <a:off x="234460" y="681034"/>
          <a:ext cx="6518032" cy="5846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B5303BA-B103-4EF5-8013-4ED35ACFBB86}"/>
              </a:ext>
            </a:extLst>
          </p:cNvPr>
          <p:cNvSpPr/>
          <p:nvPr/>
        </p:nvSpPr>
        <p:spPr>
          <a:xfrm>
            <a:off x="7122036" y="681033"/>
            <a:ext cx="4963284" cy="15416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01 | Largest opportunity </a:t>
            </a:r>
          </a:p>
          <a:p>
            <a:r>
              <a:rPr lang="en-IN" sz="2000" i="1" dirty="0">
                <a:solidFill>
                  <a:schemeClr val="bg2">
                    <a:lumMod val="50000"/>
                  </a:schemeClr>
                </a:solidFill>
              </a:rPr>
              <a:t>Indication: NSCLC Market | Revenue: $ 10.2 Bn </a:t>
            </a:r>
          </a:p>
          <a:p>
            <a:r>
              <a:rPr lang="en-IN" sz="2400" dirty="0"/>
              <a:t>    </a:t>
            </a:r>
            <a:r>
              <a:rPr lang="en-IN" i="1" dirty="0">
                <a:solidFill>
                  <a:schemeClr val="tx1"/>
                </a:solidFill>
                <a:latin typeface="+mj-lt"/>
              </a:rPr>
              <a:t>                                                                        </a:t>
            </a:r>
            <a:r>
              <a:rPr lang="en-IN" sz="1200" i="1" dirty="0">
                <a:solidFill>
                  <a:schemeClr val="tx1"/>
                </a:solidFill>
                <a:latin typeface="+mj-lt"/>
              </a:rPr>
              <a:t>(2024)</a:t>
            </a:r>
            <a:endParaRPr lang="en-IN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647D34-6BCC-4BC5-9C0E-BFCCE6165876}"/>
              </a:ext>
            </a:extLst>
          </p:cNvPr>
          <p:cNvSpPr/>
          <p:nvPr/>
        </p:nvSpPr>
        <p:spPr>
          <a:xfrm>
            <a:off x="7035567" y="671401"/>
            <a:ext cx="86469" cy="15512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49A328-BE99-4E18-B5AC-CC3C79F3ABBD}"/>
              </a:ext>
            </a:extLst>
          </p:cNvPr>
          <p:cNvSpPr/>
          <p:nvPr/>
        </p:nvSpPr>
        <p:spPr>
          <a:xfrm>
            <a:off x="7122036" y="2823756"/>
            <a:ext cx="4963284" cy="15416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02 | Fastest growth </a:t>
            </a:r>
          </a:p>
          <a:p>
            <a:r>
              <a:rPr lang="en-IN" sz="2000" i="1" dirty="0">
                <a:solidFill>
                  <a:schemeClr val="bg2">
                    <a:lumMod val="50000"/>
                  </a:schemeClr>
                </a:solidFill>
              </a:rPr>
              <a:t>Indication: Triple negative breast cancer </a:t>
            </a:r>
          </a:p>
          <a:p>
            <a:r>
              <a:rPr lang="en-IN" sz="2000" i="1" dirty="0">
                <a:solidFill>
                  <a:schemeClr val="bg2">
                    <a:lumMod val="50000"/>
                  </a:schemeClr>
                </a:solidFill>
              </a:rPr>
              <a:t>Growth: 5.0 – 5.5 % CAGR </a:t>
            </a:r>
            <a:r>
              <a:rPr lang="en-IN" sz="1200" i="1" dirty="0">
                <a:solidFill>
                  <a:schemeClr val="tx1"/>
                </a:solidFill>
                <a:latin typeface="+mj-lt"/>
              </a:rPr>
              <a:t>(2025 – 2032)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356C0-14FA-4E92-8EDF-E7EF49A99B97}"/>
              </a:ext>
            </a:extLst>
          </p:cNvPr>
          <p:cNvSpPr/>
          <p:nvPr/>
        </p:nvSpPr>
        <p:spPr>
          <a:xfrm>
            <a:off x="7035567" y="2823756"/>
            <a:ext cx="86469" cy="15512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3321F7-C424-47E1-B533-4064DBA9363D}"/>
              </a:ext>
            </a:extLst>
          </p:cNvPr>
          <p:cNvSpPr/>
          <p:nvPr/>
        </p:nvSpPr>
        <p:spPr>
          <a:xfrm>
            <a:off x="7078801" y="4976113"/>
            <a:ext cx="4963284" cy="15416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03 | Highest LOE sensitivity</a:t>
            </a:r>
          </a:p>
          <a:p>
            <a:r>
              <a:rPr lang="en-IN" sz="2000" i="1" dirty="0">
                <a:solidFill>
                  <a:schemeClr val="bg2">
                    <a:lumMod val="50000"/>
                  </a:schemeClr>
                </a:solidFill>
              </a:rPr>
              <a:t>Indication: NSCLC </a:t>
            </a:r>
          </a:p>
          <a:p>
            <a:r>
              <a:rPr lang="en-IN" sz="2000" i="1" dirty="0">
                <a:solidFill>
                  <a:schemeClr val="bg2">
                    <a:lumMod val="50000"/>
                  </a:schemeClr>
                </a:solidFill>
              </a:rPr>
              <a:t>Rationale: Revenue dependency: 34.6%</a:t>
            </a:r>
            <a:endParaRPr lang="en-IN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19C29-522F-4415-B60D-B18748168E5E}"/>
              </a:ext>
            </a:extLst>
          </p:cNvPr>
          <p:cNvSpPr/>
          <p:nvPr/>
        </p:nvSpPr>
        <p:spPr>
          <a:xfrm>
            <a:off x="7013278" y="4976111"/>
            <a:ext cx="86469" cy="15512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0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3831-F753-4F7B-9012-14F43474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56603"/>
            <a:ext cx="11943471" cy="57536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9FB7B5-3AAA-4B7B-943D-BDA4BC37F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09" y="3404"/>
            <a:ext cx="12192000" cy="938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Keytruda’s protection landscape creates a 2028- 2031 transition window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4D70F-D97A-42BD-A8A9-06EF44113415}"/>
              </a:ext>
            </a:extLst>
          </p:cNvPr>
          <p:cNvSpPr/>
          <p:nvPr/>
        </p:nvSpPr>
        <p:spPr>
          <a:xfrm>
            <a:off x="594627" y="1257809"/>
            <a:ext cx="3450680" cy="179487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  <a:endParaRPr lang="en-IN" sz="2400" dirty="0"/>
          </a:p>
          <a:p>
            <a:r>
              <a:rPr lang="en-IN" sz="2400" dirty="0"/>
              <a:t>01 | Core U.S Patent</a:t>
            </a:r>
          </a:p>
          <a:p>
            <a:r>
              <a:rPr lang="en-IN" i="1" dirty="0">
                <a:solidFill>
                  <a:schemeClr val="bg2">
                    <a:lumMod val="50000"/>
                  </a:schemeClr>
                </a:solidFill>
              </a:rPr>
              <a:t>Primary composition –of-matter patent expires Dec 2028, opens door to biosimilar competition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1561B-C6F7-43B2-9F91-BC667E24BFBC}"/>
              </a:ext>
            </a:extLst>
          </p:cNvPr>
          <p:cNvSpPr/>
          <p:nvPr/>
        </p:nvSpPr>
        <p:spPr>
          <a:xfrm>
            <a:off x="508159" y="1257808"/>
            <a:ext cx="80622" cy="18097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F52FB-D3A7-4D21-B55A-31989F50AA49}"/>
              </a:ext>
            </a:extLst>
          </p:cNvPr>
          <p:cNvSpPr/>
          <p:nvPr/>
        </p:nvSpPr>
        <p:spPr>
          <a:xfrm>
            <a:off x="4607013" y="1257807"/>
            <a:ext cx="3450680" cy="179488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02 | Additional protection</a:t>
            </a:r>
          </a:p>
          <a:p>
            <a:r>
              <a:rPr lang="en-IN" i="1" dirty="0">
                <a:solidFill>
                  <a:schemeClr val="bg2">
                    <a:lumMod val="50000"/>
                  </a:schemeClr>
                </a:solidFill>
              </a:rPr>
              <a:t>Two composition patents extend to May/Nov 2029 </a:t>
            </a:r>
            <a:r>
              <a:rPr lang="en-IN" i="1" dirty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 1 – year litigation buffer before biosimilar entry</a:t>
            </a:r>
            <a:endParaRPr lang="en-IN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8460A9-B438-4896-B7E3-1C9278FD5E62}"/>
              </a:ext>
            </a:extLst>
          </p:cNvPr>
          <p:cNvSpPr/>
          <p:nvPr/>
        </p:nvSpPr>
        <p:spPr>
          <a:xfrm>
            <a:off x="8614711" y="1257808"/>
            <a:ext cx="3450680" cy="179488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400" dirty="0"/>
              <a:t>03 | Indication-specific exclusivity</a:t>
            </a:r>
          </a:p>
          <a:p>
            <a:r>
              <a:rPr lang="en-IN" i="1" dirty="0">
                <a:solidFill>
                  <a:schemeClr val="bg2">
                    <a:lumMod val="50000"/>
                  </a:schemeClr>
                </a:solidFill>
              </a:rPr>
              <a:t>Some orphan indication extend beyond 2028, additional runway for selected uses.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F614-8B45-4F16-9E33-D4494E969B8D}"/>
              </a:ext>
            </a:extLst>
          </p:cNvPr>
          <p:cNvSpPr/>
          <p:nvPr/>
        </p:nvSpPr>
        <p:spPr>
          <a:xfrm>
            <a:off x="4521703" y="1257806"/>
            <a:ext cx="80622" cy="17843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7C4E9-6958-431F-8B09-34550878FDDE}"/>
              </a:ext>
            </a:extLst>
          </p:cNvPr>
          <p:cNvSpPr/>
          <p:nvPr/>
        </p:nvSpPr>
        <p:spPr>
          <a:xfrm>
            <a:off x="8531588" y="1257806"/>
            <a:ext cx="87811" cy="1784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306457-14CC-4345-98E2-0684CA7F7273}"/>
              </a:ext>
            </a:extLst>
          </p:cNvPr>
          <p:cNvSpPr/>
          <p:nvPr/>
        </p:nvSpPr>
        <p:spPr>
          <a:xfrm>
            <a:off x="508158" y="3319975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4297-5558-42BF-8DBA-CFF91A61D24C}"/>
              </a:ext>
            </a:extLst>
          </p:cNvPr>
          <p:cNvSpPr/>
          <p:nvPr/>
        </p:nvSpPr>
        <p:spPr>
          <a:xfrm>
            <a:off x="2446211" y="3327009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23A995-D314-451B-B3CD-B9941EEBAD7C}"/>
              </a:ext>
            </a:extLst>
          </p:cNvPr>
          <p:cNvSpPr/>
          <p:nvPr/>
        </p:nvSpPr>
        <p:spPr>
          <a:xfrm>
            <a:off x="4396033" y="3327009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CF1E10-2311-45BE-900D-3B147A1AFD7E}"/>
              </a:ext>
            </a:extLst>
          </p:cNvPr>
          <p:cNvSpPr/>
          <p:nvPr/>
        </p:nvSpPr>
        <p:spPr>
          <a:xfrm>
            <a:off x="6345855" y="3319975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FE1B92-2AF1-4D35-8EED-CAB1EEEF2522}"/>
              </a:ext>
            </a:extLst>
          </p:cNvPr>
          <p:cNvSpPr/>
          <p:nvPr/>
        </p:nvSpPr>
        <p:spPr>
          <a:xfrm>
            <a:off x="10515600" y="3337560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DFD6E3-BD75-49D3-9C7E-84AB42996CFF}"/>
              </a:ext>
            </a:extLst>
          </p:cNvPr>
          <p:cNvSpPr/>
          <p:nvPr/>
        </p:nvSpPr>
        <p:spPr>
          <a:xfrm>
            <a:off x="8286585" y="3337560"/>
            <a:ext cx="293700" cy="29542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6F0C32-7496-4EBF-B65C-8688DB3A1B57}"/>
              </a:ext>
            </a:extLst>
          </p:cNvPr>
          <p:cNvSpPr txBox="1"/>
          <p:nvPr/>
        </p:nvSpPr>
        <p:spPr>
          <a:xfrm>
            <a:off x="296281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C58FD-C729-451D-9DB3-D742F55B05A0}"/>
              </a:ext>
            </a:extLst>
          </p:cNvPr>
          <p:cNvSpPr txBox="1"/>
          <p:nvPr/>
        </p:nvSpPr>
        <p:spPr>
          <a:xfrm>
            <a:off x="2241798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45EA9-C1AC-41FE-81BA-D64EA7E8FD9B}"/>
              </a:ext>
            </a:extLst>
          </p:cNvPr>
          <p:cNvSpPr txBox="1"/>
          <p:nvPr/>
        </p:nvSpPr>
        <p:spPr>
          <a:xfrm>
            <a:off x="4187315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2028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4CD40-F210-417E-92ED-3DFB5847B8F7}"/>
              </a:ext>
            </a:extLst>
          </p:cNvPr>
          <p:cNvSpPr txBox="1"/>
          <p:nvPr/>
        </p:nvSpPr>
        <p:spPr>
          <a:xfrm>
            <a:off x="6183180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FCD020-8AF1-4AB0-A6B8-4DDFEFDBB431}"/>
              </a:ext>
            </a:extLst>
          </p:cNvPr>
          <p:cNvSpPr txBox="1"/>
          <p:nvPr/>
        </p:nvSpPr>
        <p:spPr>
          <a:xfrm>
            <a:off x="8082172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2030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0BFD53-0F8A-44C4-9F0F-AFA49D74479D}"/>
              </a:ext>
            </a:extLst>
          </p:cNvPr>
          <p:cNvSpPr txBox="1"/>
          <p:nvPr/>
        </p:nvSpPr>
        <p:spPr>
          <a:xfrm>
            <a:off x="10311187" y="3770142"/>
            <a:ext cx="70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2031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85F27A-AB2E-441B-9132-5E2D028C44A7}"/>
              </a:ext>
            </a:extLst>
          </p:cNvPr>
          <p:cNvCxnSpPr>
            <a:cxnSpLocks/>
          </p:cNvCxnSpPr>
          <p:nvPr/>
        </p:nvCxnSpPr>
        <p:spPr>
          <a:xfrm>
            <a:off x="0" y="3485271"/>
            <a:ext cx="1206539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A840D5-FFC6-4833-8AD4-05FCCE8D8011}"/>
              </a:ext>
            </a:extLst>
          </p:cNvPr>
          <p:cNvSpPr txBox="1"/>
          <p:nvPr/>
        </p:nvSpPr>
        <p:spPr>
          <a:xfrm>
            <a:off x="1793216" y="4169174"/>
            <a:ext cx="1683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800" dirty="0"/>
              <a:t>Key</a:t>
            </a:r>
            <a:r>
              <a:rPr lang="en-IN" sz="1800" baseline="0" dirty="0"/>
              <a:t> Phase 3 Readouts</a:t>
            </a:r>
            <a:endParaRPr lang="en-IN" sz="1800" dirty="0"/>
          </a:p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845E63-2204-4C2E-97CD-4C8A5964DC45}"/>
              </a:ext>
            </a:extLst>
          </p:cNvPr>
          <p:cNvSpPr txBox="1"/>
          <p:nvPr/>
        </p:nvSpPr>
        <p:spPr>
          <a:xfrm>
            <a:off x="3722962" y="4169174"/>
            <a:ext cx="1683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dirty="0"/>
              <a:t>Core Patent expires</a:t>
            </a:r>
            <a:endParaRPr lang="en-IN" sz="1800" dirty="0"/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8E0BE0-BB85-4CE9-9C2A-761A3A9A0307}"/>
              </a:ext>
            </a:extLst>
          </p:cNvPr>
          <p:cNvSpPr txBox="1"/>
          <p:nvPr/>
        </p:nvSpPr>
        <p:spPr>
          <a:xfrm>
            <a:off x="5692468" y="4169176"/>
            <a:ext cx="168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800" dirty="0"/>
              <a:t>Biosimilar entry</a:t>
            </a:r>
          </a:p>
          <a:p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2AD505-FE17-48F6-AEA0-BB5BC2B0D001}"/>
              </a:ext>
            </a:extLst>
          </p:cNvPr>
          <p:cNvSpPr txBox="1"/>
          <p:nvPr/>
        </p:nvSpPr>
        <p:spPr>
          <a:xfrm>
            <a:off x="7582454" y="4169174"/>
            <a:ext cx="168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Orphan drug exclusivity ends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E44D2A-F0E7-4E57-B726-E77B758F8925}"/>
              </a:ext>
            </a:extLst>
          </p:cNvPr>
          <p:cNvSpPr txBox="1"/>
          <p:nvPr/>
        </p:nvSpPr>
        <p:spPr>
          <a:xfrm>
            <a:off x="9826267" y="4169174"/>
            <a:ext cx="168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DF0E90-2C7C-4F7D-80C4-A87252A92BAB}"/>
              </a:ext>
            </a:extLst>
          </p:cNvPr>
          <p:cNvSpPr txBox="1"/>
          <p:nvPr/>
        </p:nvSpPr>
        <p:spPr>
          <a:xfrm>
            <a:off x="9826267" y="4169174"/>
            <a:ext cx="168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Potential extension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85047A-CFF6-45BA-BE4F-F506F71E2527}"/>
              </a:ext>
            </a:extLst>
          </p:cNvPr>
          <p:cNvSpPr txBox="1"/>
          <p:nvPr/>
        </p:nvSpPr>
        <p:spPr>
          <a:xfrm>
            <a:off x="-136530" y="4139474"/>
            <a:ext cx="168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dirty="0"/>
              <a:t>Current Year</a:t>
            </a:r>
            <a:endParaRPr lang="en-IN" sz="1800" dirty="0"/>
          </a:p>
          <a:p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AA61BA-E948-437F-9BA6-3D8D45A36781}"/>
              </a:ext>
            </a:extLst>
          </p:cNvPr>
          <p:cNvSpPr txBox="1"/>
          <p:nvPr/>
        </p:nvSpPr>
        <p:spPr>
          <a:xfrm>
            <a:off x="296281" y="5122204"/>
            <a:ext cx="116049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b="1" i="1" dirty="0">
                <a:solidFill>
                  <a:schemeClr val="accent1">
                    <a:lumMod val="50000"/>
                  </a:schemeClr>
                </a:solidFill>
              </a:rPr>
              <a:t>Clinical Milestone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Endometrial Cancer (KEYNOTE‑C93) - expected completion May 2027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Pediatric Solid Tumors/Lymphoma (KEYNOTE‑051) – completion Feb 2028.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Esophageal Cancer (MK‑3475‑06F) – completion June 2028. </a:t>
            </a:r>
            <a:endParaRPr lang="en-IN" i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CBDBB3-9B80-48E1-A80E-D4FAA2D1AE17}"/>
              </a:ext>
            </a:extLst>
          </p:cNvPr>
          <p:cNvCxnSpPr/>
          <p:nvPr/>
        </p:nvCxnSpPr>
        <p:spPr>
          <a:xfrm>
            <a:off x="215710" y="5064368"/>
            <a:ext cx="11685558" cy="0"/>
          </a:xfrm>
          <a:prstGeom prst="lin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53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73F5-8D1B-4912-9B48-D76B8F7F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" y="54814"/>
            <a:ext cx="12070080" cy="607617"/>
          </a:xfrm>
        </p:spPr>
        <p:txBody>
          <a:bodyPr>
            <a:normAutofit/>
          </a:bodyPr>
          <a:lstStyle/>
          <a:p>
            <a:r>
              <a:rPr lang="en-IN" sz="2800" dirty="0"/>
              <a:t>The Key economic question is how much Keytruda revenue is exposed after 2028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F99C8-3D32-40C4-A364-4651714F1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6" y="604912"/>
            <a:ext cx="11915335" cy="60913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BE4AE-70E0-48CB-ACB2-E16CA783A264}"/>
              </a:ext>
            </a:extLst>
          </p:cNvPr>
          <p:cNvSpPr/>
          <p:nvPr/>
        </p:nvSpPr>
        <p:spPr>
          <a:xfrm>
            <a:off x="192259" y="745588"/>
            <a:ext cx="6546166" cy="5831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CFBA8D7-E691-4126-8062-0757A137B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808725"/>
              </p:ext>
            </p:extLst>
          </p:nvPr>
        </p:nvGraphicFramePr>
        <p:xfrm>
          <a:off x="192259" y="735037"/>
          <a:ext cx="6546166" cy="5831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38DBF17-66CC-4534-8150-84B56FF12E44}"/>
              </a:ext>
            </a:extLst>
          </p:cNvPr>
          <p:cNvSpPr/>
          <p:nvPr/>
        </p:nvSpPr>
        <p:spPr>
          <a:xfrm>
            <a:off x="7473729" y="782007"/>
            <a:ext cx="3450680" cy="13869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01 | 2028 Revenue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    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$ 35.0 B</a:t>
            </a:r>
          </a:p>
          <a:p>
            <a:r>
              <a:rPr lang="en-IN" sz="1200" i="1" dirty="0">
                <a:solidFill>
                  <a:schemeClr val="bg2">
                    <a:lumMod val="50000"/>
                  </a:schemeClr>
                </a:solidFill>
              </a:rPr>
              <a:t>       (Global Keytruda baseline)</a:t>
            </a: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A863F-EA45-4A26-839C-2A2CDF27D0BF}"/>
              </a:ext>
            </a:extLst>
          </p:cNvPr>
          <p:cNvSpPr/>
          <p:nvPr/>
        </p:nvSpPr>
        <p:spPr>
          <a:xfrm>
            <a:off x="7473729" y="3071074"/>
            <a:ext cx="3450680" cy="13869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02 | 2030 Revenue at Risk</a:t>
            </a: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$ 10.9 B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FA8533-33DC-4972-99AE-107D7A405C64}"/>
              </a:ext>
            </a:extLst>
          </p:cNvPr>
          <p:cNvSpPr/>
          <p:nvPr/>
        </p:nvSpPr>
        <p:spPr>
          <a:xfrm>
            <a:off x="7473729" y="5179179"/>
            <a:ext cx="3450680" cy="13869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r>
              <a:rPr lang="en-IN" sz="2400" dirty="0"/>
              <a:t>03 | Cumulative Exposure </a:t>
            </a:r>
          </a:p>
          <a:p>
            <a:r>
              <a:rPr lang="en-IN" sz="1100" dirty="0"/>
              <a:t>                 (2029 – 2031)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    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$ 29.7 B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F4343-64DE-4DA2-826C-36DCAD5CEA67}"/>
              </a:ext>
            </a:extLst>
          </p:cNvPr>
          <p:cNvSpPr/>
          <p:nvPr/>
        </p:nvSpPr>
        <p:spPr>
          <a:xfrm>
            <a:off x="7387260" y="782006"/>
            <a:ext cx="86469" cy="13869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8B9307-594A-438F-A725-DEDCA0D4A22F}"/>
              </a:ext>
            </a:extLst>
          </p:cNvPr>
          <p:cNvSpPr/>
          <p:nvPr/>
        </p:nvSpPr>
        <p:spPr>
          <a:xfrm>
            <a:off x="7430494" y="3065070"/>
            <a:ext cx="86469" cy="13869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F40B78-64CC-475B-BEB0-863EE902C1F1}"/>
              </a:ext>
            </a:extLst>
          </p:cNvPr>
          <p:cNvSpPr/>
          <p:nvPr/>
        </p:nvSpPr>
        <p:spPr>
          <a:xfrm>
            <a:off x="7407049" y="5189730"/>
            <a:ext cx="86469" cy="13869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00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9426-E8D8-486B-9023-F6D54A3E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" y="-17172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Keytruda: Multi-lever franchise defence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B7E6D-1AD8-4707-8C5F-A2FFF5F4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12" y="801858"/>
            <a:ext cx="11854376" cy="58943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C76E2-1845-4D37-BC9E-BE343BD04DE5}"/>
              </a:ext>
            </a:extLst>
          </p:cNvPr>
          <p:cNvSpPr/>
          <p:nvPr/>
        </p:nvSpPr>
        <p:spPr>
          <a:xfrm>
            <a:off x="414713" y="1136917"/>
            <a:ext cx="2757547" cy="4916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sz="2400" dirty="0"/>
              <a:t>01 | Differentiate</a:t>
            </a:r>
          </a:p>
          <a:p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Protect the franchise through differentiated delivery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QLEX/ </a:t>
            </a:r>
            <a:r>
              <a:rPr lang="en-IN" b="1" dirty="0" err="1">
                <a:solidFill>
                  <a:schemeClr val="tx1"/>
                </a:solidFill>
              </a:rPr>
              <a:t>sc</a:t>
            </a:r>
            <a:r>
              <a:rPr lang="en-IN" b="1" dirty="0">
                <a:solidFill>
                  <a:schemeClr val="tx1"/>
                </a:solidFill>
              </a:rPr>
              <a:t> administration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Faster </a:t>
            </a:r>
            <a:r>
              <a:rPr lang="en-IN" b="1" dirty="0" err="1">
                <a:solidFill>
                  <a:schemeClr val="tx1"/>
                </a:solidFill>
              </a:rPr>
              <a:t>administratiob</a:t>
            </a:r>
            <a:r>
              <a:rPr lang="en-IN" b="1" dirty="0">
                <a:solidFill>
                  <a:schemeClr val="tx1"/>
                </a:solidFill>
              </a:rPr>
              <a:t> and differentiated patient experience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Creates a differentiated formulation alongside IV </a:t>
            </a:r>
            <a:r>
              <a:rPr lang="en-IN" b="1" dirty="0" err="1">
                <a:solidFill>
                  <a:schemeClr val="tx1"/>
                </a:solidFill>
              </a:rPr>
              <a:t>keytruda</a:t>
            </a:r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A65CB-DE72-4E51-BAAD-7736621C7C0D}"/>
              </a:ext>
            </a:extLst>
          </p:cNvPr>
          <p:cNvSpPr/>
          <p:nvPr/>
        </p:nvSpPr>
        <p:spPr>
          <a:xfrm>
            <a:off x="3298597" y="1134350"/>
            <a:ext cx="2757546" cy="4916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400" dirty="0"/>
              <a:t>02 | Move earlier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Capture patients before advanced diseases.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Perioperative /adjuvant expansion</a:t>
            </a:r>
          </a:p>
          <a:p>
            <a:endParaRPr lang="en-IN" sz="1400" b="1" i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Move Keytruda from treatment around surgery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Increase duration and breadth of franchise exposure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sz="1600" b="1" i="1" dirty="0">
                <a:solidFill>
                  <a:schemeClr val="bg2">
                    <a:lumMod val="50000"/>
                  </a:schemeClr>
                </a:solidFill>
              </a:rPr>
              <a:t>Example: Perioperative bladder cancer</a:t>
            </a: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390429-FF86-426E-B033-04BB715835EC}"/>
              </a:ext>
            </a:extLst>
          </p:cNvPr>
          <p:cNvSpPr/>
          <p:nvPr/>
        </p:nvSpPr>
        <p:spPr>
          <a:xfrm>
            <a:off x="6262189" y="1134350"/>
            <a:ext cx="2757546" cy="4916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r>
              <a:rPr lang="en-IN" sz="2400" dirty="0"/>
              <a:t>03 | Build combination franchises 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Make Keytruda the backbone- not just the molecule</a:t>
            </a:r>
          </a:p>
          <a:p>
            <a:endParaRPr lang="en-IN" sz="1400" b="1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Keytruda + Complementary mechanisms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Chemotherapy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Targeted therapies / ADCs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Novel immunotherapies</a:t>
            </a:r>
            <a:endParaRPr lang="en-IN" b="1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b="1" i="1" dirty="0">
                <a:solidFill>
                  <a:schemeClr val="bg2">
                    <a:lumMod val="50000"/>
                  </a:schemeClr>
                </a:solidFill>
              </a:rPr>
              <a:t>Build durable treatment franchises around pembrolizumab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2000" b="1" i="1" dirty="0">
              <a:solidFill>
                <a:schemeClr val="tx1"/>
              </a:solidFill>
            </a:endParaRPr>
          </a:p>
          <a:p>
            <a:endParaRPr lang="en-IN" sz="1200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168A4-D4D0-4665-B68C-68752AB1313C}"/>
              </a:ext>
            </a:extLst>
          </p:cNvPr>
          <p:cNvSpPr/>
          <p:nvPr/>
        </p:nvSpPr>
        <p:spPr>
          <a:xfrm>
            <a:off x="9185921" y="1136916"/>
            <a:ext cx="2757547" cy="49192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800" b="1" dirty="0">
              <a:solidFill>
                <a:schemeClr val="tx1"/>
              </a:solidFill>
              <a:latin typeface="+mj-lt"/>
            </a:endParaRPr>
          </a:p>
          <a:p>
            <a:r>
              <a:rPr lang="en-IN" sz="2400" dirty="0"/>
              <a:t>04 | Expand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Increase the addressable patient population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NEW TUMORS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b="1" dirty="0">
                <a:solidFill>
                  <a:schemeClr val="tx1"/>
                </a:solidFill>
              </a:rPr>
              <a:t>Expand into additional cancer types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NEW LINES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b="1" dirty="0">
                <a:solidFill>
                  <a:schemeClr val="tx1"/>
                </a:solidFill>
              </a:rPr>
              <a:t>Earlier / later lines of therapy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NEW POPULATION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b="1" dirty="0">
                <a:solidFill>
                  <a:schemeClr val="tx1"/>
                </a:solidFill>
              </a:rPr>
              <a:t>Biomarker – defined and underserved populations</a:t>
            </a:r>
          </a:p>
          <a:p>
            <a:r>
              <a:rPr lang="en-IN" sz="1600" b="1" i="1" dirty="0" err="1">
                <a:solidFill>
                  <a:schemeClr val="bg2">
                    <a:lumMod val="50000"/>
                  </a:schemeClr>
                </a:solidFill>
              </a:rPr>
              <a:t>Tumor</a:t>
            </a:r>
            <a:r>
              <a:rPr lang="en-IN" sz="1600" b="1" i="1" dirty="0">
                <a:solidFill>
                  <a:schemeClr val="bg2">
                    <a:lumMod val="50000"/>
                  </a:schemeClr>
                </a:solidFill>
              </a:rPr>
              <a:t> types -&gt; Treatment lines -&gt; Patient segments 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    </a:t>
            </a:r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9DB407-2EFC-4BF3-8A6A-06C0AF79BBC8}"/>
              </a:ext>
            </a:extLst>
          </p:cNvPr>
          <p:cNvSpPr/>
          <p:nvPr/>
        </p:nvSpPr>
        <p:spPr>
          <a:xfrm>
            <a:off x="337337" y="1136916"/>
            <a:ext cx="77375" cy="49166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8F161C-DE9D-41FD-B282-A79ABA265B85}"/>
              </a:ext>
            </a:extLst>
          </p:cNvPr>
          <p:cNvSpPr/>
          <p:nvPr/>
        </p:nvSpPr>
        <p:spPr>
          <a:xfrm>
            <a:off x="9155438" y="1153835"/>
            <a:ext cx="79722" cy="49192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B0A9FF-343B-490C-BAED-AF6FD9037A19}"/>
              </a:ext>
            </a:extLst>
          </p:cNvPr>
          <p:cNvSpPr/>
          <p:nvPr/>
        </p:nvSpPr>
        <p:spPr>
          <a:xfrm>
            <a:off x="6182469" y="1131783"/>
            <a:ext cx="79722" cy="49192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357AA5-7817-41AC-A252-55F1DC52EB46}"/>
              </a:ext>
            </a:extLst>
          </p:cNvPr>
          <p:cNvSpPr/>
          <p:nvPr/>
        </p:nvSpPr>
        <p:spPr>
          <a:xfrm>
            <a:off x="3295531" y="1153835"/>
            <a:ext cx="79722" cy="49192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3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0E3F-430C-4325-91C9-D07539CC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1" y="98474"/>
            <a:ext cx="11957538" cy="1325563"/>
          </a:xfrm>
        </p:spPr>
        <p:txBody>
          <a:bodyPr>
            <a:normAutofit/>
          </a:bodyPr>
          <a:lstStyle/>
          <a:p>
            <a:r>
              <a:rPr lang="en-IN" sz="3600" dirty="0"/>
              <a:t>Pembrolizumabs clinical pipeline provides multiple routes to franchise expansion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0A77FCB-18AB-4AF0-955C-302BDA10E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0276021"/>
              </p:ext>
            </p:extLst>
          </p:nvPr>
        </p:nvGraphicFramePr>
        <p:xfrm>
          <a:off x="844062" y="1589649"/>
          <a:ext cx="10564836" cy="4260072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{F5AB1C69-6EDB-4FF4-983F-18BD219EF322}</a:tableStyleId>
              </a:tblPr>
              <a:tblGrid>
                <a:gridCol w="1760806">
                  <a:extLst>
                    <a:ext uri="{9D8B030D-6E8A-4147-A177-3AD203B41FA5}">
                      <a16:colId xmlns:a16="http://schemas.microsoft.com/office/drawing/2014/main" val="217697542"/>
                    </a:ext>
                  </a:extLst>
                </a:gridCol>
                <a:gridCol w="1760806">
                  <a:extLst>
                    <a:ext uri="{9D8B030D-6E8A-4147-A177-3AD203B41FA5}">
                      <a16:colId xmlns:a16="http://schemas.microsoft.com/office/drawing/2014/main" val="2030403160"/>
                    </a:ext>
                  </a:extLst>
                </a:gridCol>
                <a:gridCol w="1760806">
                  <a:extLst>
                    <a:ext uri="{9D8B030D-6E8A-4147-A177-3AD203B41FA5}">
                      <a16:colId xmlns:a16="http://schemas.microsoft.com/office/drawing/2014/main" val="1040195297"/>
                    </a:ext>
                  </a:extLst>
                </a:gridCol>
                <a:gridCol w="1760806">
                  <a:extLst>
                    <a:ext uri="{9D8B030D-6E8A-4147-A177-3AD203B41FA5}">
                      <a16:colId xmlns:a16="http://schemas.microsoft.com/office/drawing/2014/main" val="1756153265"/>
                    </a:ext>
                  </a:extLst>
                </a:gridCol>
                <a:gridCol w="1760806">
                  <a:extLst>
                    <a:ext uri="{9D8B030D-6E8A-4147-A177-3AD203B41FA5}">
                      <a16:colId xmlns:a16="http://schemas.microsoft.com/office/drawing/2014/main" val="3556567025"/>
                    </a:ext>
                  </a:extLst>
                </a:gridCol>
                <a:gridCol w="1760806">
                  <a:extLst>
                    <a:ext uri="{9D8B030D-6E8A-4147-A177-3AD203B41FA5}">
                      <a16:colId xmlns:a16="http://schemas.microsoft.com/office/drawing/2014/main" val="3238932443"/>
                    </a:ext>
                  </a:extLst>
                </a:gridCol>
              </a:tblGrid>
              <a:tr h="4671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NCT Number / Trial 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Completion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Strategic 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00952"/>
                  </a:ext>
                </a:extLst>
              </a:tr>
              <a:tr h="11603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NCT05173987</a:t>
                      </a:r>
                    </a:p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Endometrial Neoplasms</a:t>
                      </a: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ACTIVE_NOT_RECRUITING</a:t>
                      </a: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27-05-2027</a:t>
                      </a: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EXPAND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116995"/>
                  </a:ext>
                </a:extLst>
              </a:tr>
              <a:tr h="11603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NCT03765918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Endometrial 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Neoplasms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PHASE 3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ACTIVE_NOT_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RECRUITING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27-05-2027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MOVE EARLIER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222271"/>
                  </a:ext>
                </a:extLst>
              </a:tr>
              <a:tr h="11603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NCT03713593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Carcinoma, Hepatocellular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PHASE 3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24-09-2024</a:t>
                      </a: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I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COMBINE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622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01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F703-5B33-4D3B-BD83-232BE7D1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23" y="-361217"/>
            <a:ext cx="11806518" cy="1325563"/>
          </a:xfrm>
        </p:spPr>
        <p:txBody>
          <a:bodyPr/>
          <a:lstStyle/>
          <a:p>
            <a:r>
              <a:rPr lang="en-IN" sz="2800" dirty="0">
                <a:latin typeface="+mn-lt"/>
              </a:rPr>
              <a:t>The post Keytruda strategy depends on the broader Merck oncology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B5F4B-1DCA-421D-BD4E-BA61241E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FBE7B-FD9A-4303-87BC-4DB8115C50C1}"/>
              </a:ext>
            </a:extLst>
          </p:cNvPr>
          <p:cNvSpPr/>
          <p:nvPr/>
        </p:nvSpPr>
        <p:spPr>
          <a:xfrm>
            <a:off x="192259" y="735037"/>
            <a:ext cx="6546166" cy="58310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427E97C-8F35-4C1E-AFA7-CF14B8768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8411312"/>
              </p:ext>
            </p:extLst>
          </p:nvPr>
        </p:nvGraphicFramePr>
        <p:xfrm>
          <a:off x="192259" y="735037"/>
          <a:ext cx="6546166" cy="5831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864D4B2-A910-4636-ACB0-F36B2AAAD6B1}"/>
              </a:ext>
            </a:extLst>
          </p:cNvPr>
          <p:cNvSpPr/>
          <p:nvPr/>
        </p:nvSpPr>
        <p:spPr>
          <a:xfrm>
            <a:off x="7473728" y="735037"/>
            <a:ext cx="3450681" cy="1433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01 | Phase III/Filing – visible assets</a:t>
            </a:r>
          </a:p>
          <a:p>
            <a:r>
              <a:rPr lang="en-IN" sz="1200" i="1" dirty="0">
                <a:solidFill>
                  <a:schemeClr val="bg2">
                    <a:lumMod val="50000"/>
                  </a:schemeClr>
                </a:solidFill>
              </a:rPr>
              <a:t>       Programs with the maturity and strategic fit to contribute around 2028 LOE window</a:t>
            </a:r>
          </a:p>
          <a:p>
            <a:r>
              <a:rPr lang="en-IN" b="1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IN" b="1" dirty="0">
                <a:solidFill>
                  <a:schemeClr val="tx1"/>
                </a:solidFill>
                <a:latin typeface="+mj-lt"/>
              </a:rPr>
              <a:t>ACCELERATE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CB143-61AC-4645-A81D-97AFE0BB8F8D}"/>
              </a:ext>
            </a:extLst>
          </p:cNvPr>
          <p:cNvSpPr/>
          <p:nvPr/>
        </p:nvSpPr>
        <p:spPr>
          <a:xfrm>
            <a:off x="7473729" y="2604165"/>
            <a:ext cx="3450680" cy="13869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02 | Phase II Assets with differentiated opportunity</a:t>
            </a:r>
          </a:p>
          <a:p>
            <a:r>
              <a:rPr lang="en-IN" sz="1200" i="1" dirty="0">
                <a:solidFill>
                  <a:schemeClr val="bg2">
                    <a:lumMod val="50000"/>
                  </a:schemeClr>
                </a:solidFill>
              </a:rPr>
              <a:t>       Programs that create meaningful franchise value beyond the immediate LOE Window.</a:t>
            </a:r>
          </a:p>
          <a:p>
            <a:r>
              <a:rPr lang="en-IN" b="1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IN" b="1" dirty="0">
                <a:solidFill>
                  <a:schemeClr val="tx1"/>
                </a:solidFill>
                <a:latin typeface="+mj-lt"/>
              </a:rPr>
              <a:t>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F5B99-3A44-4E9A-B9D4-CCBDEB10BC3B}"/>
              </a:ext>
            </a:extLst>
          </p:cNvPr>
          <p:cNvSpPr/>
          <p:nvPr/>
        </p:nvSpPr>
        <p:spPr>
          <a:xfrm>
            <a:off x="7473729" y="4426323"/>
            <a:ext cx="3450680" cy="13869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03 | Early- stage Platforms / mechanisms</a:t>
            </a:r>
          </a:p>
          <a:p>
            <a:r>
              <a:rPr lang="en-IN" sz="1200" i="1" dirty="0">
                <a:solidFill>
                  <a:schemeClr val="bg2">
                    <a:lumMod val="50000"/>
                  </a:schemeClr>
                </a:solidFill>
              </a:rPr>
              <a:t>     Higher-uncertainty programs that could create future oncology growth platforms       </a:t>
            </a:r>
          </a:p>
          <a:p>
            <a:r>
              <a:rPr lang="en-IN" b="1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IN" b="1" dirty="0">
                <a:solidFill>
                  <a:schemeClr val="tx1"/>
                </a:solidFill>
                <a:latin typeface="+mj-lt"/>
              </a:rPr>
              <a:t>SELECT / MONITOR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751DF5-84BD-404E-96B8-D95598DFD390}"/>
              </a:ext>
            </a:extLst>
          </p:cNvPr>
          <p:cNvSpPr/>
          <p:nvPr/>
        </p:nvSpPr>
        <p:spPr>
          <a:xfrm flipH="1">
            <a:off x="7384364" y="750951"/>
            <a:ext cx="89364" cy="14115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CA2088-8D4A-4554-B273-EA89108C3011}"/>
              </a:ext>
            </a:extLst>
          </p:cNvPr>
          <p:cNvSpPr/>
          <p:nvPr/>
        </p:nvSpPr>
        <p:spPr>
          <a:xfrm flipH="1">
            <a:off x="7384364" y="2578560"/>
            <a:ext cx="89364" cy="14115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AC60A1-22F3-4B44-B490-432ECBA4042D}"/>
              </a:ext>
            </a:extLst>
          </p:cNvPr>
          <p:cNvSpPr/>
          <p:nvPr/>
        </p:nvSpPr>
        <p:spPr>
          <a:xfrm flipH="1">
            <a:off x="7400937" y="4425362"/>
            <a:ext cx="89364" cy="14115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159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BB49-CAD1-41A4-80EB-51363878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58" y="315227"/>
            <a:ext cx="11616984" cy="369912"/>
          </a:xfrm>
        </p:spPr>
        <p:txBody>
          <a:bodyPr>
            <a:noAutofit/>
          </a:bodyPr>
          <a:lstStyle/>
          <a:p>
            <a:r>
              <a:rPr lang="en-IN" sz="2400" dirty="0"/>
              <a:t>KEYTRUDA’s 2028 U.S. LOE could create a $ 14 B annual revenue Gap by 2031, Requiring multiple replacement Engines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49FC-356A-4403-A4DB-478F44E97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258" y="905917"/>
            <a:ext cx="11807483" cy="5844508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dirty="0">
                <a:solidFill>
                  <a:srgbClr val="212529"/>
                </a:solidFill>
                <a:latin typeface="Open Sans" panose="020B0606030504020204" pitchFamily="34" charset="0"/>
              </a:rPr>
              <a:t>          </a:t>
            </a:r>
          </a:p>
          <a:p>
            <a:endParaRPr lang="en-IN" sz="1600" dirty="0"/>
          </a:p>
          <a:p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     Implication: Merck needs a portfolio of replacement engines rather than a one-for-one successor to Keytruda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23C1B-8F0B-4342-9E02-1C6E6C5016C8}"/>
              </a:ext>
            </a:extLst>
          </p:cNvPr>
          <p:cNvSpPr/>
          <p:nvPr/>
        </p:nvSpPr>
        <p:spPr>
          <a:xfrm>
            <a:off x="192259" y="905917"/>
            <a:ext cx="6154754" cy="47284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F42A2-50E8-4A9C-829B-BEC278FDD8F2}"/>
              </a:ext>
            </a:extLst>
          </p:cNvPr>
          <p:cNvSpPr txBox="1"/>
          <p:nvPr/>
        </p:nvSpPr>
        <p:spPr>
          <a:xfrm>
            <a:off x="647113" y="1307417"/>
            <a:ext cx="88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$ 35. 0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A272C-368B-404B-B716-E9BF68433FE5}"/>
              </a:ext>
            </a:extLst>
          </p:cNvPr>
          <p:cNvSpPr txBox="1"/>
          <p:nvPr/>
        </p:nvSpPr>
        <p:spPr>
          <a:xfrm>
            <a:off x="1822068" y="1314042"/>
            <a:ext cx="88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- $4.9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DD3C1-B354-4AD8-867C-E8F788E7D298}"/>
              </a:ext>
            </a:extLst>
          </p:cNvPr>
          <p:cNvSpPr txBox="1"/>
          <p:nvPr/>
        </p:nvSpPr>
        <p:spPr>
          <a:xfrm>
            <a:off x="2927736" y="1837652"/>
            <a:ext cx="88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- $6. 0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802C8-225F-476F-9FE1-457CA737F921}"/>
              </a:ext>
            </a:extLst>
          </p:cNvPr>
          <p:cNvSpPr txBox="1"/>
          <p:nvPr/>
        </p:nvSpPr>
        <p:spPr>
          <a:xfrm>
            <a:off x="4172484" y="2497276"/>
            <a:ext cx="88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- $3. 1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D9E8E-7857-4A69-B5D6-9F58ED3F24C1}"/>
              </a:ext>
            </a:extLst>
          </p:cNvPr>
          <p:cNvSpPr txBox="1"/>
          <p:nvPr/>
        </p:nvSpPr>
        <p:spPr>
          <a:xfrm>
            <a:off x="5259748" y="2806999"/>
            <a:ext cx="88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  $21.0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50D21-3C59-483E-A448-43DD7344FD75}"/>
              </a:ext>
            </a:extLst>
          </p:cNvPr>
          <p:cNvSpPr txBox="1"/>
          <p:nvPr/>
        </p:nvSpPr>
        <p:spPr>
          <a:xfrm>
            <a:off x="6902823" y="905916"/>
            <a:ext cx="49109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</a:rPr>
              <a:t>Replacement pathways</a:t>
            </a:r>
          </a:p>
          <a:p>
            <a:endParaRPr lang="en-IN" sz="2000" b="1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01 | </a:t>
            </a:r>
            <a:r>
              <a:rPr lang="en-IN" sz="2400" dirty="0">
                <a:solidFill>
                  <a:schemeClr val="dk1"/>
                </a:solidFill>
              </a:rPr>
              <a:t>Extend</a:t>
            </a:r>
          </a:p>
          <a:p>
            <a:r>
              <a:rPr lang="en-IN" sz="2000" b="1" dirty="0">
                <a:latin typeface="+mj-lt"/>
              </a:rPr>
              <a:t>Keytruda Lifecycle</a:t>
            </a:r>
          </a:p>
          <a:p>
            <a:r>
              <a:rPr lang="en-IN" sz="2000" b="1" dirty="0">
                <a:latin typeface="+mj-lt"/>
              </a:rPr>
              <a:t>Near-term</a:t>
            </a:r>
          </a:p>
          <a:p>
            <a:endParaRPr lang="en-IN" sz="2000" b="1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02 | </a:t>
            </a:r>
            <a:r>
              <a:rPr lang="en-IN" sz="2400" dirty="0">
                <a:solidFill>
                  <a:schemeClr val="dk1"/>
                </a:solidFill>
              </a:rPr>
              <a:t>Build</a:t>
            </a:r>
          </a:p>
          <a:p>
            <a:r>
              <a:rPr lang="en-IN" sz="2000" b="1" dirty="0">
                <a:latin typeface="+mj-lt"/>
              </a:rPr>
              <a:t>New Oncology Growth Engines</a:t>
            </a:r>
          </a:p>
          <a:p>
            <a:r>
              <a:rPr lang="en-IN" sz="2000" b="1" dirty="0">
                <a:latin typeface="+mj-lt"/>
              </a:rPr>
              <a:t>Mid- term</a:t>
            </a:r>
          </a:p>
          <a:p>
            <a:endParaRPr lang="en-IN" sz="2000" b="1" dirty="0">
              <a:latin typeface="+mj-lt"/>
            </a:endParaRPr>
          </a:p>
          <a:p>
            <a:r>
              <a:rPr lang="en-IN" sz="2000" b="1" dirty="0">
                <a:latin typeface="+mj-lt"/>
              </a:rPr>
              <a:t>03 | </a:t>
            </a:r>
            <a:r>
              <a:rPr lang="en-IN" sz="2400" dirty="0">
                <a:solidFill>
                  <a:schemeClr val="dk1"/>
                </a:solidFill>
              </a:rPr>
              <a:t>Develop</a:t>
            </a:r>
          </a:p>
          <a:p>
            <a:r>
              <a:rPr lang="en-IN" sz="2000" b="1" dirty="0">
                <a:latin typeface="+mj-lt"/>
              </a:rPr>
              <a:t>Future Oncology Options</a:t>
            </a:r>
          </a:p>
          <a:p>
            <a:r>
              <a:rPr lang="en-IN" sz="2000" b="1" dirty="0">
                <a:latin typeface="+mj-lt"/>
              </a:rPr>
              <a:t>Long - term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4BC6BD-5E78-4474-B3FD-D28572B822D0}"/>
              </a:ext>
            </a:extLst>
          </p:cNvPr>
          <p:cNvSpPr/>
          <p:nvPr/>
        </p:nvSpPr>
        <p:spPr>
          <a:xfrm>
            <a:off x="6911788" y="905916"/>
            <a:ext cx="4897454" cy="472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02EF7-EB86-4BBF-982B-BA4ED2CBF8C1}"/>
              </a:ext>
            </a:extLst>
          </p:cNvPr>
          <p:cNvSpPr txBox="1"/>
          <p:nvPr/>
        </p:nvSpPr>
        <p:spPr>
          <a:xfrm>
            <a:off x="1822068" y="5725128"/>
            <a:ext cx="268494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Open Sans" panose="020B0606030504020204" pitchFamily="34" charset="0"/>
              </a:rPr>
              <a:t> </a:t>
            </a:r>
            <a:r>
              <a:rPr lang="en-IN" sz="1600" b="1" i="0" dirty="0">
                <a:solidFill>
                  <a:schemeClr val="tx2">
                    <a:lumMod val="75000"/>
                  </a:schemeClr>
                </a:solidFill>
                <a:effectLst/>
                <a:latin typeface="Open Sans" panose="020B0606030504020204" pitchFamily="34" charset="0"/>
              </a:rPr>
              <a:t>~ $14 B</a:t>
            </a:r>
          </a:p>
          <a:p>
            <a:pPr marL="0" indent="0" algn="ctr">
              <a:buNone/>
            </a:pP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Open Sans" panose="020B0606030504020204" pitchFamily="34" charset="0"/>
              </a:rPr>
              <a:t>  Annual gap by 2031</a:t>
            </a:r>
            <a:endParaRPr lang="en-IN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8734D3-3279-4ED7-AEE9-F1A2F9B57E50}"/>
              </a:ext>
            </a:extLst>
          </p:cNvPr>
          <p:cNvSpPr txBox="1"/>
          <p:nvPr/>
        </p:nvSpPr>
        <p:spPr>
          <a:xfrm>
            <a:off x="7418362" y="5675084"/>
            <a:ext cx="33572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212529"/>
                </a:solidFill>
                <a:latin typeface="Open Sans" panose="020B0606030504020204" pitchFamily="34" charset="0"/>
              </a:rPr>
              <a:t> 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400" b="1" dirty="0">
                <a:solidFill>
                  <a:srgbClr val="212529"/>
                </a:solidFill>
                <a:latin typeface="Open Sans" panose="020B0606030504020204" pitchFamily="34" charset="0"/>
              </a:rPr>
              <a:t>$29. 7 B</a:t>
            </a:r>
          </a:p>
          <a:p>
            <a:pPr algn="ctr"/>
            <a:r>
              <a:rPr lang="en-IN" sz="1400" b="1" dirty="0">
                <a:solidFill>
                  <a:srgbClr val="212529"/>
                </a:solidFill>
                <a:latin typeface="Open Sans" panose="020B0606030504020204" pitchFamily="34" charset="0"/>
              </a:rPr>
              <a:t>  Cumulative 2029 – 2031 exposure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2" name="Chart 21">
                <a:extLst>
                  <a:ext uri="{FF2B5EF4-FFF2-40B4-BE49-F238E27FC236}">
                    <a16:creationId xmlns:a16="http://schemas.microsoft.com/office/drawing/2014/main" id="{0486A582-01C1-4C38-A2BB-8E818039693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27872397"/>
                  </p:ext>
                </p:extLst>
              </p:nvPr>
            </p:nvGraphicFramePr>
            <p:xfrm>
              <a:off x="192258" y="901746"/>
              <a:ext cx="6163720" cy="47283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2" name="Chart 21">
                <a:extLst>
                  <a:ext uri="{FF2B5EF4-FFF2-40B4-BE49-F238E27FC236}">
                    <a16:creationId xmlns:a16="http://schemas.microsoft.com/office/drawing/2014/main" id="{0486A582-01C1-4C38-A2BB-8E81803969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258" y="901746"/>
                <a:ext cx="6163720" cy="4728395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74BEC1-C469-4318-B934-F1C2F665A47E}"/>
              </a:ext>
            </a:extLst>
          </p:cNvPr>
          <p:cNvCxnSpPr/>
          <p:nvPr/>
        </p:nvCxnSpPr>
        <p:spPr>
          <a:xfrm>
            <a:off x="314183" y="6399981"/>
            <a:ext cx="11685558" cy="0"/>
          </a:xfrm>
          <a:prstGeom prst="lin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DE037A3-919F-4628-BE13-9C5E97F0131C}"/>
              </a:ext>
            </a:extLst>
          </p:cNvPr>
          <p:cNvSpPr/>
          <p:nvPr/>
        </p:nvSpPr>
        <p:spPr>
          <a:xfrm flipH="1">
            <a:off x="6822423" y="901746"/>
            <a:ext cx="98330" cy="47283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5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9E82F40-2706-486B-90AF-C1376132381D}"/>
              </a:ext>
            </a:extLst>
          </p:cNvPr>
          <p:cNvSpPr/>
          <p:nvPr/>
        </p:nvSpPr>
        <p:spPr>
          <a:xfrm>
            <a:off x="167934" y="1206355"/>
            <a:ext cx="7309777" cy="52788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C0AF8-1ACA-4482-93AB-3CA0037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083"/>
            <a:ext cx="121920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R&amp;D prioritization should focus on mature high value programs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96565-BF41-4B66-80B5-4317FD8780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255728"/>
              </p:ext>
            </p:extLst>
          </p:nvPr>
        </p:nvGraphicFramePr>
        <p:xfrm>
          <a:off x="267286" y="1893461"/>
          <a:ext cx="6816383" cy="4325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A93059E-0AA8-4BE1-B56E-F516CC1D645B}"/>
              </a:ext>
            </a:extLst>
          </p:cNvPr>
          <p:cNvSpPr txBox="1"/>
          <p:nvPr/>
        </p:nvSpPr>
        <p:spPr>
          <a:xfrm>
            <a:off x="5193907" y="1633410"/>
            <a:ext cx="6161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NCT06984588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A3A665-8D50-44E5-9043-BB5F1FF26C6B}"/>
              </a:ext>
            </a:extLst>
          </p:cNvPr>
          <p:cNvSpPr txBox="1"/>
          <p:nvPr/>
        </p:nvSpPr>
        <p:spPr>
          <a:xfrm>
            <a:off x="6096000" y="1217912"/>
            <a:ext cx="1688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NCT04657991</a:t>
            </a:r>
          </a:p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NCT05085028 </a:t>
            </a:r>
          </a:p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NCT02954874</a:t>
            </a:r>
          </a:p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NCT06430866 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2398EC-6BA5-4D07-B748-B834C08C4319}"/>
              </a:ext>
            </a:extLst>
          </p:cNvPr>
          <p:cNvSpPr txBox="1"/>
          <p:nvPr/>
        </p:nvSpPr>
        <p:spPr>
          <a:xfrm>
            <a:off x="6096000" y="3495621"/>
            <a:ext cx="1648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NCT05173987 </a:t>
            </a:r>
          </a:p>
          <a:p>
            <a:pPr algn="ctr"/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NCT04221945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D6ECEE-B5FF-43C9-B26E-0F04A3D3BB30}"/>
              </a:ext>
            </a:extLst>
          </p:cNvPr>
          <p:cNvSpPr txBox="1"/>
          <p:nvPr/>
        </p:nvSpPr>
        <p:spPr>
          <a:xfrm>
            <a:off x="5193907" y="3418532"/>
            <a:ext cx="1522828" cy="37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NCT06907602</a:t>
            </a:r>
            <a:r>
              <a:rPr lang="en-IN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6D346F-BFC9-4B08-94FE-4E7F9546F9D1}"/>
              </a:ext>
            </a:extLst>
          </p:cNvPr>
          <p:cNvSpPr txBox="1"/>
          <p:nvPr/>
        </p:nvSpPr>
        <p:spPr>
          <a:xfrm>
            <a:off x="5193907" y="4903785"/>
            <a:ext cx="1522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NCT06923475</a:t>
            </a:r>
            <a:r>
              <a:rPr lang="en-IN" dirty="0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239E28-7FDF-46DB-98AF-6C4D56E16BB6}"/>
              </a:ext>
            </a:extLst>
          </p:cNvPr>
          <p:cNvSpPr txBox="1"/>
          <p:nvPr/>
        </p:nvSpPr>
        <p:spPr>
          <a:xfrm>
            <a:off x="1677279" y="2915975"/>
            <a:ext cx="1252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SELECTIVE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723BD-03AC-4EC5-A762-C6631B15792D}"/>
              </a:ext>
            </a:extLst>
          </p:cNvPr>
          <p:cNvSpPr txBox="1"/>
          <p:nvPr/>
        </p:nvSpPr>
        <p:spPr>
          <a:xfrm>
            <a:off x="4339296" y="2886054"/>
            <a:ext cx="1252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PRIORITIZE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FC93D3-68A2-4873-A473-6DD7B0144420}"/>
              </a:ext>
            </a:extLst>
          </p:cNvPr>
          <p:cNvSpPr txBox="1"/>
          <p:nvPr/>
        </p:nvSpPr>
        <p:spPr>
          <a:xfrm>
            <a:off x="1565177" y="4712241"/>
            <a:ext cx="1476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MONITOR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5FDB3E-7BFA-429F-BC2D-28C7341C26CB}"/>
              </a:ext>
            </a:extLst>
          </p:cNvPr>
          <p:cNvSpPr txBox="1"/>
          <p:nvPr/>
        </p:nvSpPr>
        <p:spPr>
          <a:xfrm>
            <a:off x="4227194" y="4719054"/>
            <a:ext cx="1476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ADVANCE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953F17-F9C0-49B8-947D-08B6809B51DF}"/>
              </a:ext>
            </a:extLst>
          </p:cNvPr>
          <p:cNvSpPr/>
          <p:nvPr/>
        </p:nvSpPr>
        <p:spPr>
          <a:xfrm>
            <a:off x="7985762" y="2108103"/>
            <a:ext cx="3450680" cy="27956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Prioritise mature programs with meaningful commercial value and near –term relevance to the LOE window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902DE1-C679-4A1E-AD3C-DE51839A9910}"/>
              </a:ext>
            </a:extLst>
          </p:cNvPr>
          <p:cNvSpPr/>
          <p:nvPr/>
        </p:nvSpPr>
        <p:spPr>
          <a:xfrm flipH="1">
            <a:off x="7887432" y="2095378"/>
            <a:ext cx="98330" cy="2808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15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3831-F753-4F7B-9012-14F43474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56603"/>
            <a:ext cx="11943471" cy="5753686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DEFEND </a:t>
            </a:r>
            <a:r>
              <a:rPr lang="en-IN" dirty="0">
                <a:sym typeface="Wingdings" panose="05000000000000000000" pitchFamily="2" charset="2"/>
              </a:rPr>
              <a:t> ACCELERATE  REPLACE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9FB7B5-3AAA-4B7B-943D-BDA4BC37F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-164624"/>
            <a:ext cx="12192001" cy="938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  Keytruda’s protection landscape creates a 2028- 2031 transition window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4D70F-D97A-42BD-A8A9-06EF44113415}"/>
              </a:ext>
            </a:extLst>
          </p:cNvPr>
          <p:cNvSpPr/>
          <p:nvPr/>
        </p:nvSpPr>
        <p:spPr>
          <a:xfrm>
            <a:off x="594627" y="1257809"/>
            <a:ext cx="3450680" cy="295546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  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400" dirty="0"/>
              <a:t>01 | Defend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Extend Keytruda runway</a:t>
            </a:r>
          </a:p>
          <a:p>
            <a:endParaRPr lang="en-IN" sz="1400" b="1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2026 – 2028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Differentiate through QLEX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Expand indications and patient populations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Move Keytruda earlier in treatment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b="1" i="1" dirty="0">
              <a:solidFill>
                <a:schemeClr val="tx1"/>
              </a:solidFill>
            </a:endParaRP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Protect near –term franchise value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1561B-C6F7-43B2-9F91-BC667E24BFBC}"/>
              </a:ext>
            </a:extLst>
          </p:cNvPr>
          <p:cNvSpPr/>
          <p:nvPr/>
        </p:nvSpPr>
        <p:spPr>
          <a:xfrm>
            <a:off x="508159" y="1257808"/>
            <a:ext cx="81780" cy="29554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F52FB-D3A7-4D21-B55A-31989F50AA49}"/>
              </a:ext>
            </a:extLst>
          </p:cNvPr>
          <p:cNvSpPr/>
          <p:nvPr/>
        </p:nvSpPr>
        <p:spPr>
          <a:xfrm>
            <a:off x="4608171" y="1257806"/>
            <a:ext cx="3450680" cy="375029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/>
              <a:t>02 | Accelerate</a:t>
            </a: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Convert the pipeline into growth</a:t>
            </a:r>
          </a:p>
          <a:p>
            <a:endParaRPr lang="en-IN" sz="1400" b="1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2027 – 2030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Advance mature, commercially relevant programs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Build combination- led franchises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i="1" dirty="0">
                <a:solidFill>
                  <a:schemeClr val="tx1"/>
                </a:solidFill>
              </a:rPr>
              <a:t>Prioritize opportunities with near term impact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Bridge the post-LOE revenue gap</a:t>
            </a: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8460A9-B438-4896-B7E3-1C9278FD5E62}"/>
              </a:ext>
            </a:extLst>
          </p:cNvPr>
          <p:cNvSpPr/>
          <p:nvPr/>
        </p:nvSpPr>
        <p:spPr>
          <a:xfrm>
            <a:off x="8614711" y="1257808"/>
            <a:ext cx="3450680" cy="49601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/>
              <a:t> </a:t>
            </a:r>
            <a:r>
              <a:rPr lang="en-IN" sz="2400" dirty="0"/>
              <a:t>03 | Replace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Build the next oncology engines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2029 – 2031+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chemeClr val="tx1"/>
                </a:solidFill>
              </a:rPr>
              <a:t>Develop differentiated mechanisms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chemeClr val="tx1"/>
                </a:solidFill>
              </a:rPr>
              <a:t>Scale next-generation oncology platforms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chemeClr val="tx1"/>
                </a:solidFill>
              </a:rPr>
              <a:t>Reduce dependence on a single blockbuster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r>
              <a:rPr lang="en-IN" sz="1400" b="1" i="1" dirty="0">
                <a:solidFill>
                  <a:schemeClr val="bg2">
                    <a:lumMod val="50000"/>
                  </a:schemeClr>
                </a:solidFill>
              </a:rPr>
              <a:t>Create multiple post-Keytruda growth engines</a:t>
            </a: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E44D2A-F0E7-4E57-B726-E77B758F8925}"/>
              </a:ext>
            </a:extLst>
          </p:cNvPr>
          <p:cNvSpPr txBox="1"/>
          <p:nvPr/>
        </p:nvSpPr>
        <p:spPr>
          <a:xfrm>
            <a:off x="9826267" y="4169174"/>
            <a:ext cx="168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FA1A40-EE5D-4903-AAFA-D75A4FAE3C07}"/>
              </a:ext>
            </a:extLst>
          </p:cNvPr>
          <p:cNvSpPr/>
          <p:nvPr/>
        </p:nvSpPr>
        <p:spPr>
          <a:xfrm>
            <a:off x="4513324" y="1257806"/>
            <a:ext cx="90157" cy="37502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FBC1E2-14BD-4C5A-AA33-A073E4E6353E}"/>
              </a:ext>
            </a:extLst>
          </p:cNvPr>
          <p:cNvSpPr/>
          <p:nvPr/>
        </p:nvSpPr>
        <p:spPr>
          <a:xfrm>
            <a:off x="8526866" y="1257806"/>
            <a:ext cx="90156" cy="49601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89E5-14B6-4E73-AB87-2A79C389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6" y="-182880"/>
            <a:ext cx="11822722" cy="1325563"/>
          </a:xfrm>
        </p:spPr>
        <p:txBody>
          <a:bodyPr/>
          <a:lstStyle/>
          <a:p>
            <a:r>
              <a:rPr lang="en-IN" sz="3200" dirty="0"/>
              <a:t>Keytruda’s LOE is a portfolio transition – not a single asset replacement challenge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625022-ECF6-4678-AA73-D60470F611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175323"/>
              </p:ext>
            </p:extLst>
          </p:nvPr>
        </p:nvGraphicFramePr>
        <p:xfrm>
          <a:off x="309490" y="1941342"/>
          <a:ext cx="11619913" cy="455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309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1135</Words>
  <Application>Microsoft Office PowerPoint</Application>
  <PresentationFormat>Widescreen</PresentationFormat>
  <Paragraphs>390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 Antiqua</vt:lpstr>
      <vt:lpstr>Calibri</vt:lpstr>
      <vt:lpstr>Calibri Light</vt:lpstr>
      <vt:lpstr>Open Sans</vt:lpstr>
      <vt:lpstr>Wingdings</vt:lpstr>
      <vt:lpstr>Office Theme</vt:lpstr>
      <vt:lpstr>Defending the Crown: Keytruda’s 2028 LOE &amp; Merck’s Next-Generation Oncology Strategy</vt:lpstr>
      <vt:lpstr>Keytruda LOE: Defend the Franchise, accelerate the pipeline</vt:lpstr>
      <vt:lpstr>Keytruda is a portfolio-level concentration for Merck</vt:lpstr>
      <vt:lpstr>Keytruda’s value is distributed across a broad oncology franchise</vt:lpstr>
      <vt:lpstr>Keytruda’s protection landscape creates a 2028- 2031 transition window</vt:lpstr>
      <vt:lpstr>The Key economic question is how much Keytruda revenue is exposed after 2028</vt:lpstr>
      <vt:lpstr>Keytruda: Multi-lever franchise defence strategy</vt:lpstr>
      <vt:lpstr>Pembrolizumabs clinical pipeline provides multiple routes to franchise expansion</vt:lpstr>
      <vt:lpstr>The post Keytruda strategy depends on the broader Merck oncology pipeline</vt:lpstr>
      <vt:lpstr>KEYTRUDA’s 2028 U.S. LOE could create a $ 14 B annual revenue Gap by 2031, Requiring multiple replacement Engines</vt:lpstr>
      <vt:lpstr>R&amp;D prioritization should focus on mature high value programs</vt:lpstr>
      <vt:lpstr>  Keytruda’s protection landscape creates a 2028- 2031 transition window</vt:lpstr>
      <vt:lpstr>Keytruda’s LOE is a portfolio transition – not a single asset replacement 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Defending the Crown: Keytruda’s 2028 LOE &amp; Merck’s Next-Generation Oncology Strategy</dc:title>
  <dc:creator>Dhanusri M S</dc:creator>
  <cp:lastModifiedBy>Dhanusri M S</cp:lastModifiedBy>
  <cp:revision>56</cp:revision>
  <dcterms:created xsi:type="dcterms:W3CDTF">2026-09-27T10:12:37Z</dcterms:created>
  <dcterms:modified xsi:type="dcterms:W3CDTF">2026-09-29T02:39:45Z</dcterms:modified>
</cp:coreProperties>
</file>